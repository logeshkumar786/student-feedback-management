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a9485f-6761-c9fb-9b21-e8f417381a47}">
          <p14:sldIdLst>
            <p14:sldId id="256"/>
            <p14:sldId id="257"/>
            <p14:sldId id="258"/>
          </p14:sldIdLst>
        </p14:section>
        <p14:section name="Study" id="{7b011266-6ee3-5fa1-51b1-613fb0392645}">
          <p14:sldIdLst>
            <p14:sldId id="259"/>
            <p14:sldId id="260"/>
            <p14:sldId id="261"/>
          </p14:sldIdLst>
        </p14:section>
        <p14:section name="Design" id="{f00134e4-eabe-a98e-a1e1-b9bc216aadfb}">
          <p14:sldIdLst>
            <p14:sldId id="262"/>
            <p14:sldId id="263"/>
            <p14:sldId id="264"/>
          </p14:sldIdLst>
        </p14:section>
        <p14:section name="Build and Results" id="{041e32e0-7cbc-e879-f804-35dc526f47bc}">
          <p14:sldIdLst>
            <p14:sldId id="265"/>
            <p14:sldId id="266"/>
            <p14:sldId id="267"/>
            <p14:sldId id="268"/>
          </p14:sldIdLst>
        </p14:section>
        <p14:section name="Wrap-up" id="{acc73f6a-10f2-0fb9-7e00-7793e380826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2E3F"/>
                </a:solidFill>
                <a:latin typeface="+mn-lt"/>
              </a:defRPr>
            </a:pPr>
            <a:r>
              <a:rPr sz="1600" b="0" i="0" u="none" strike="noStrike">
                <a:solidFill>
                  <a:srgbClr val="0B2E3F"/>
                </a:solidFill>
                <a:latin typeface="+mn-lt"/>
              </a:rPr>
              <a:t>Average rating by course (out of 5)</a:t>
            </a:r>
          </a:p>
        </c:rich>
      </c:tx>
      <c:layout/>
      <c:overlay val="0"/>
    </c:title>
    <c:autoTitleDeleted val="0"/>
    <c:plotArea>
      <c:layout/>
      <c:barChart>
        <c:barDir val="col"/>
        <c:grouping val="clustered"/>
        <c:varyColors val="0"/>
        <c:ser>
          <c:idx val="0"/>
          <c:order val="0"/>
          <c:tx>
            <c:strRef>
              <c:f>Sheet1!$B$1</c:f>
              <c:strCache>
                <c:ptCount val="1"/>
                <c:pt idx="0">
                  <c:v>Average rating</c:v>
                </c:pt>
              </c:strCache>
            </c:strRef>
          </c:tx>
          <c:spPr>
            <a:solidFill>
              <a:srgbClr val="0E7C86"/>
            </a:solidFill>
            <a:effectLst/>
          </c:spPr>
          <c:invertIfNegative val="0"/>
          <c:dLbls>
            <c:numFmt formatCode="0.0" sourceLinked="0"/>
            <c:txPr>
              <a:bodyPr/>
              <a:lstStyle/>
              <a:p>
                <a:pPr>
                  <a:defRPr b="0" i="0" strike="noStrike" sz="1400" u="none">
                    <a:solidFill>
                      <a:srgbClr val="0B2E3F"/>
                    </a:solidFill>
                    <a:latin typeface="+mn-lt"/>
                  </a:defRPr>
                </a:pPr>
              </a:p>
            </c:txPr>
            <c:showLegendKey val="0"/>
            <c:showVal val="1"/>
            <c:showCatName val="0"/>
            <c:showSerName val="0"/>
            <c:showPercent val="0"/>
            <c:showBubbleSize val="0"/>
            <c:showLeaderLines val="0"/>
          </c:dLbls>
          <c:cat>
            <c:multiLvlStrRef>
              <c:f>Sheet1!$A$2:$A$5</c:f>
              <c:multiLvlStrCache>
                <c:ptCount val="4"/>
                <c:lvl>
                  <c:pt idx="0">
                    <c:v>Python Programming</c:v>
                  </c:pt>
                  <c:pt idx="1">
                    <c:v>Database Systems</c:v>
                  </c:pt>
                  <c:pt idx="2">
                    <c:v>Web Technology</c:v>
                  </c:pt>
                  <c:pt idx="3">
                    <c:v>Software Engineering</c:v>
                  </c:pt>
                </c:lvl>
              </c:multiLvlStrCache>
            </c:multiLvlStrRef>
          </c:cat>
          <c:val>
            <c:numRef>
              <c:f>Sheet1!$B$2:$B$5</c:f>
              <c:numCache>
                <c:formatCode>General</c:formatCode>
                <c:ptCount val="4"/>
                <c:pt idx="0">
                  <c:v>4.3</c:v>
                </c:pt>
                <c:pt idx="1">
                  <c:v>4.1</c:v>
                </c:pt>
                <c:pt idx="2">
                  <c:v>4</c:v>
                </c:pt>
                <c:pt idx="3">
                  <c:v>4.2</c:v>
                </c:pt>
              </c:numCache>
            </c:numRef>
          </c:val>
        </c:ser>
        <c:dLbls>
          <c:numFmt formatCode="0.0" sourceLinked="0"/>
          <c:txPr>
            <a:bodyPr/>
            <a:lstStyle/>
            <a:p>
              <a:pPr>
                <a:defRPr b="0" i="0" strike="noStrike" sz="1400" u="none">
                  <a:solidFill>
                    <a:srgbClr val="0B2E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B2E3F"/>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D9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Python desktop application that replaces a manual student feedback process with a digital workflow, built during the internship at Fantasy Solution, Trichy.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Trichy. Internship from 1 to 30 June 2026 in Python programming, under joint supervisor Mohamed Ibrahim (Software Developer, MCA). The project is the Student Feedback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goals: lifecycle, Python and modular design, the feedback workflow, database operations, validation and security, and testing with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1-10 covered Python basics. Days 11-20 covered exceptions, OOP, libraries, data handling and regex. Days 21-30 covered databases, APIs, scraping, visualisation, environments, async, web frameworks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forms, spreadsheets and generic online forms each help with basic collection, but lack automation, validation, analysis and reporting. The proposed Python system adds these at the cost of needing development and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feedback means repeated data entry, hand calculation and no central database. The Python application adds validation, central storage and automatic averages. Python was chosen for readable syntax and built-in Tkinter and sqlite3.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uses the GUI. The Python application validates the request and performs database operations in SQLite. The admin dashboard uses stored responses to produce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from login to confirmation. Validation happens twice: at credentials and at the form, both before anything is written to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tables: students, courses, feedback and admins. The application is split into seven modules so interface code and database operations can be maintained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lightweight: Python, Tkinter and SQLite. A Core i3 with 4 GB RAM and 10 GB free space is enough; Core i5 with 8 GB is recommended. It runs on Windows, Linux and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create the database, log in, choose a course, validate required fields and a rating from 1 to 5, then insert with parameterised SQL. An AVG query summarises each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sample screens from the report: login, student dashboard, course feedback form and administrator dashboard. Figures shown on the dashboards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8 functional test cases passed: valid and invalid login, course selection, missing rating, rating outside 1-5, valid submission, admin summary and average calculation. The course averages are illustrative sample data and should be replaced with measured results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work and what you learned. Future work: web version, a larger database, role-based access, richer reports, notifications and automated testing.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E3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chemeClr val="accent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115568"/>
            <a:ext cx="822960" cy="54864"/>
          </a:xfrm>
          <a:prstGeom prst="rect">
            <a:avLst/>
          </a:prstGeom>
          <a:solidFill>
            <a:schemeClr val="accent1"/>
          </a:solidFill>
          <a:ln/>
        </p:spPr>
      </p:sp>
      <p:sp>
        <p:nvSpPr>
          <p:cNvPr id="3"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Student Feedback System using Python  |  Summer Internship Review</a:t>
            </a:r>
            <a:endParaRPr lang="en-US" sz="1100" dirty="0"/>
          </a:p>
        </p:txBody>
      </p:sp>
      <p:sp>
        <p:nvSpPr>
          <p:cNvPr id="4" name="Shape 2"/>
          <p:cNvSpPr/>
          <p:nvPr/>
        </p:nvSpPr>
        <p:spPr>
          <a:xfrm>
            <a:off x="0" y="6355080"/>
            <a:ext cx="12191695" cy="9144"/>
          </a:xfrm>
          <a:prstGeom prst="rect">
            <a:avLst/>
          </a:prstGeom>
          <a:solidFill>
            <a:schemeClr val="bg2"/>
          </a:solidFill>
          <a:ln/>
        </p:spPr>
      </p:sp>
      <p:sp>
        <p:nvSpPr>
          <p:cNvPr id="5" name="Text 3"/>
          <p:cNvSpPr/>
          <p:nvPr>
            <p:ph idx="103" type="title" hasCustomPrompt="1"/>
          </p:nvPr>
        </p:nvSpPr>
        <p:spPr>
          <a:xfrm>
            <a:off x="548640" y="36576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2E3F"/>
        </a:solidFill>
      </p:bgPr>
    </p:bg>
    <p:spTree>
      <p:nvGrpSpPr>
        <p:cNvPr id="1" name=""/>
        <p:cNvGrpSpPr/>
        <p:nvPr/>
      </p:nvGrpSpPr>
      <p:grpSpPr>
        <a:xfrm>
          <a:off x="0" y="0"/>
          <a:ext cx="0" cy="0"/>
          <a:chOff x="0" y="0"/>
          <a:chExt cx="0" cy="0"/>
        </a:xfrm>
      </p:grpSpPr>
      <p:sp>
        <p:nvSpPr>
          <p:cNvPr id="2" name="Shape 0"/>
          <p:cNvSpPr/>
          <p:nvPr/>
        </p:nvSpPr>
        <p:spPr>
          <a:xfrm>
            <a:off x="548640" y="1115568"/>
            <a:ext cx="822960" cy="54864"/>
          </a:xfrm>
          <a:prstGeom prst="rect">
            <a:avLst/>
          </a:prstGeom>
          <a:solidFill>
            <a:schemeClr val="accent2"/>
          </a:solidFill>
          <a:ln/>
        </p:spPr>
      </p:sp>
      <p:sp>
        <p:nvSpPr>
          <p:cNvPr id="3"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Student Feedback System using Python  |  Summer Internship Review</a:t>
            </a:r>
            <a:endParaRPr lang="en-US" sz="1100" dirty="0"/>
          </a:p>
        </p:txBody>
      </p:sp>
      <p:sp>
        <p:nvSpPr>
          <p:cNvPr id="4" name="Text 2"/>
          <p:cNvSpPr/>
          <p:nvPr>
            <p:ph idx="102" type="title" hasCustomPrompt="1"/>
          </p:nvPr>
        </p:nvSpPr>
        <p:spPr>
          <a:xfrm>
            <a:off x="548640" y="365760"/>
            <a:ext cx="1106424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822960"/>
            <a:ext cx="5943600" cy="320040"/>
          </a:xfrm>
          <a:prstGeom prst="rect">
            <a:avLst/>
          </a:prstGeom>
          <a:noFill/>
          <a:ln/>
        </p:spPr>
        <p:txBody>
          <a:bodyPr wrap="square" lIns="0" tIns="0" rIns="0" bIns="0" rtlCol="0" anchor="t"/>
          <a:lstStyle/>
          <a:p>
            <a:pPr indent="0" marL="0">
              <a:buNone/>
            </a:pPr>
            <a:r>
              <a:rPr lang="en-US" sz="1400" b="1" spc="300" kern="0" dirty="0">
                <a:solidFill>
                  <a:schemeClr val="accent5"/>
                </a:solidFill>
              </a:rPr>
              <a:t>SUMMER INTERNSHIP REVIEW  |  IT3711</a:t>
            </a:r>
            <a:endParaRPr lang="en-US" sz="1400" dirty="0"/>
          </a:p>
        </p:txBody>
      </p:sp>
      <p:sp>
        <p:nvSpPr>
          <p:cNvPr id="3" name="Text 1"/>
          <p:cNvSpPr txBox="1"/>
          <p:nvPr/>
        </p:nvSpPr>
        <p:spPr>
          <a:xfrm>
            <a:off x="822960" y="1371600"/>
            <a:ext cx="5852160" cy="1828800"/>
          </a:xfrm>
          <a:prstGeom prst="rect">
            <a:avLst/>
          </a:prstGeom>
          <a:noFill/>
          <a:ln/>
        </p:spPr>
        <p:txBody>
          <a:bodyPr wrap="square" lIns="0" tIns="0" rIns="0" bIns="0" rtlCol="0" anchor="t"/>
          <a:lstStyle/>
          <a:p>
            <a:pPr indent="0" marL="0">
              <a:buNone/>
            </a:pPr>
            <a:r>
              <a:rPr lang="en-US" sz="4000" b="1" dirty="0">
                <a:solidFill>
                  <a:schemeClr val="bg1"/>
                </a:solidFill>
                <a:latin typeface="+mj-lt" pitchFamily="34" charset="0"/>
                <a:ea typeface="+mj-lt" pitchFamily="34" charset="-122"/>
                <a:cs typeface="+mj-lt" pitchFamily="34" charset="-120"/>
              </a:rPr>
              <a:t>Student Feedback System using Python</a:t>
            </a:r>
            <a:endParaRPr lang="en-US" sz="4000" dirty="0"/>
          </a:p>
        </p:txBody>
      </p:sp>
      <p:sp>
        <p:nvSpPr>
          <p:cNvPr id="4" name="Text 2"/>
          <p:cNvSpPr txBox="1"/>
          <p:nvPr/>
        </p:nvSpPr>
        <p:spPr>
          <a:xfrm>
            <a:off x="822960" y="3291840"/>
            <a:ext cx="5669280" cy="822960"/>
          </a:xfrm>
          <a:prstGeom prst="rect">
            <a:avLst/>
          </a:prstGeom>
          <a:noFill/>
          <a:ln/>
        </p:spPr>
        <p:txBody>
          <a:bodyPr wrap="square" lIns="0" tIns="0" rIns="0" bIns="0" rtlCol="0" anchor="t"/>
          <a:lstStyle/>
          <a:p>
            <a:pPr indent="0" marL="0">
              <a:buNone/>
            </a:pPr>
            <a:r>
              <a:rPr lang="en-US" sz="1800" dirty="0">
                <a:solidFill>
                  <a:schemeClr val="accent5"/>
                </a:solidFill>
              </a:rPr>
              <a:t>A digital workflow to collect, validate and analyse course feedback with Python, Tkinter and SQLite</a:t>
            </a:r>
            <a:endParaRPr lang="en-US" sz="1800" dirty="0"/>
          </a:p>
        </p:txBody>
      </p:sp>
      <p:sp>
        <p:nvSpPr>
          <p:cNvPr id="5" name="Shape 3"/>
          <p:cNvSpPr/>
          <p:nvPr/>
        </p:nvSpPr>
        <p:spPr>
          <a:xfrm>
            <a:off x="822960" y="4434840"/>
            <a:ext cx="640080" cy="45720"/>
          </a:xfrm>
          <a:prstGeom prst="rect">
            <a:avLst/>
          </a:prstGeom>
          <a:solidFill>
            <a:schemeClr val="accent2"/>
          </a:solidFill>
          <a:ln w="12700">
            <a:solidFill>
              <a:schemeClr val="accent2"/>
            </a:solidFill>
            <a:prstDash val="solid"/>
          </a:ln>
        </p:spPr>
      </p:sp>
      <p:sp>
        <p:nvSpPr>
          <p:cNvPr id="6" name="Text 4"/>
          <p:cNvSpPr txBox="1"/>
          <p:nvPr/>
        </p:nvSpPr>
        <p:spPr>
          <a:xfrm>
            <a:off x="822960" y="4663440"/>
            <a:ext cx="5852160" cy="365760"/>
          </a:xfrm>
          <a:prstGeom prst="rect">
            <a:avLst/>
          </a:prstGeom>
          <a:noFill/>
          <a:ln/>
        </p:spPr>
        <p:txBody>
          <a:bodyPr wrap="square" lIns="0" tIns="0" rIns="0" bIns="0" rtlCol="0" anchor="t"/>
          <a:lstStyle/>
          <a:p>
            <a:pPr indent="0" marL="0">
              <a:buNone/>
            </a:pPr>
            <a:r>
              <a:rPr lang="en-US" sz="2000" b="1" dirty="0">
                <a:solidFill>
                  <a:schemeClr val="bg1"/>
                </a:solidFill>
              </a:rPr>
              <a:t>Logeshkumar M (810023205060)</a:t>
            </a:r>
            <a:endParaRPr lang="en-US" sz="2000" dirty="0"/>
          </a:p>
        </p:txBody>
      </p:sp>
      <p:sp>
        <p:nvSpPr>
          <p:cNvPr id="7" name="Text 5"/>
          <p:cNvSpPr txBox="1"/>
          <p:nvPr/>
        </p:nvSpPr>
        <p:spPr>
          <a:xfrm>
            <a:off x="822960" y="5120640"/>
            <a:ext cx="5852160" cy="822960"/>
          </a:xfrm>
          <a:prstGeom prst="rect">
            <a:avLst/>
          </a:prstGeom>
          <a:noFill/>
          <a:ln/>
        </p:spPr>
        <p:txBody>
          <a:bodyPr wrap="square" lIns="0" tIns="0" rIns="0" bIns="0" rtlCol="0" anchor="t"/>
          <a:lstStyle/>
          <a:p>
            <a:pPr indent="0" marL="0">
              <a:buNone/>
            </a:pPr>
            <a:r>
              <a:rPr lang="en-US" sz="1400" dirty="0">
                <a:solidFill>
                  <a:schemeClr val="accent5"/>
                </a:solidFill>
              </a:rPr>
              <a:t>B.Tech. Information Technology, Semester VII</a:t>
            </a:r>
            <a:endParaRPr lang="en-US" sz="1400" dirty="0"/>
          </a:p>
          <a:p>
            <a:pPr indent="0" marL="0">
              <a:buNone/>
            </a:pPr>
            <a:r>
              <a:rPr lang="en-US" sz="1400" dirty="0">
                <a:solidFill>
                  <a:schemeClr val="accent5"/>
                </a:solidFill>
              </a:rPr>
              <a:t>University College of Engineering (BIT Campus), Anna University, Tiruchirappalli</a:t>
            </a:r>
            <a:endParaRPr lang="en-US" sz="1400" dirty="0"/>
          </a:p>
        </p:txBody>
      </p:sp>
      <p:sp>
        <p:nvSpPr>
          <p:cNvPr id="8" name="Screenshot frame"/>
          <p:cNvSpPr/>
          <p:nvPr/>
        </p:nvSpPr>
        <p:spPr>
          <a:xfrm>
            <a:off x="7086600" y="1234440"/>
            <a:ext cx="4572000" cy="3337560"/>
          </a:xfrm>
          <a:prstGeom prst="roundRect">
            <a:avLst>
              <a:gd name="adj" fmla="val 2192"/>
            </a:avLst>
          </a:prstGeom>
          <a:solidFill>
            <a:schemeClr val="accent1"/>
          </a:solidFill>
          <a:ln w="12700">
            <a:solidFill>
              <a:schemeClr val="accent1"/>
            </a:solidFill>
            <a:prstDash val="solid"/>
          </a:ln>
        </p:spPr>
      </p:sp>
      <p:pic>
        <p:nvPicPr>
          <p:cNvPr id="9" name="Admin dashboard screenshot" descr="Administrator dashboard of the feedback system">    </p:cNvPr>
          <p:cNvPicPr>
            <a:picLocks noChangeAspect="1"/>
          </p:cNvPicPr>
          <p:nvPr/>
        </p:nvPicPr>
        <p:blipFill>
          <a:blip r:embed="rId1"/>
          <a:stretch>
            <a:fillRect/>
          </a:stretch>
        </p:blipFill>
        <p:spPr>
          <a:xfrm>
            <a:off x="7223760" y="1371600"/>
            <a:ext cx="4297680" cy="2417674"/>
          </a:xfrm>
          <a:prstGeom prst="rect">
            <a:avLst/>
          </a:prstGeom>
        </p:spPr>
      </p:pic>
      <p:sp>
        <p:nvSpPr>
          <p:cNvPr id="10" name="Text 7"/>
          <p:cNvSpPr txBox="1"/>
          <p:nvPr/>
        </p:nvSpPr>
        <p:spPr>
          <a:xfrm>
            <a:off x="7223760" y="3931920"/>
            <a:ext cx="4297680" cy="274320"/>
          </a:xfrm>
          <a:prstGeom prst="rect">
            <a:avLst/>
          </a:prstGeom>
          <a:noFill/>
          <a:ln/>
        </p:spPr>
        <p:txBody>
          <a:bodyPr wrap="square" lIns="0" tIns="0" rIns="0" bIns="0" rtlCol="0" anchor="t"/>
          <a:lstStyle/>
          <a:p>
            <a:pPr algn="ctr" indent="0" marL="0">
              <a:buNone/>
            </a:pPr>
            <a:r>
              <a:rPr lang="en-US" sz="1300" dirty="0">
                <a:solidFill>
                  <a:schemeClr val="bg1"/>
                </a:solidFill>
              </a:rPr>
              <a:t>Administrator dashboard (sample output)</a:t>
            </a:r>
            <a:endParaRPr lang="en-US" sz="1300" dirty="0"/>
          </a:p>
        </p:txBody>
      </p:sp>
      <p:sp>
        <p:nvSpPr>
          <p:cNvPr id="11" name="Chip Collect"/>
          <p:cNvSpPr/>
          <p:nvPr/>
        </p:nvSpPr>
        <p:spPr>
          <a:xfrm>
            <a:off x="7086600" y="4754880"/>
            <a:ext cx="1463040" cy="548640"/>
          </a:xfrm>
          <a:prstGeom prst="roundRect">
            <a:avLst>
              <a:gd name="adj" fmla="val 13333"/>
            </a:avLst>
          </a:prstGeom>
          <a:solidFill>
            <a:schemeClr val="accent1"/>
          </a:solidFill>
          <a:ln w="12700">
            <a:solidFill>
              <a:schemeClr val="accent1"/>
            </a:solidFill>
            <a:prstDash val="solid"/>
          </a:ln>
        </p:spPr>
      </p:sp>
      <p:sp>
        <p:nvSpPr>
          <p:cNvPr id="12" name="Text 9"/>
          <p:cNvSpPr txBox="1"/>
          <p:nvPr/>
        </p:nvSpPr>
        <p:spPr>
          <a:xfrm>
            <a:off x="7086600" y="4754880"/>
            <a:ext cx="1463040" cy="548640"/>
          </a:xfrm>
          <a:prstGeom prst="rect">
            <a:avLst/>
          </a:prstGeom>
          <a:noFill/>
          <a:ln/>
        </p:spPr>
        <p:txBody>
          <a:bodyPr wrap="square" lIns="0" tIns="0" rIns="0" bIns="0" rtlCol="0" anchor="ctr"/>
          <a:lstStyle/>
          <a:p>
            <a:pPr algn="ctr" indent="0" marL="0">
              <a:buNone/>
            </a:pPr>
            <a:r>
              <a:rPr lang="en-US" sz="1600" b="1" dirty="0">
                <a:solidFill>
                  <a:schemeClr val="bg1"/>
                </a:solidFill>
              </a:rPr>
              <a:t>Collect</a:t>
            </a:r>
            <a:endParaRPr lang="en-US" sz="1600" dirty="0"/>
          </a:p>
        </p:txBody>
      </p:sp>
      <p:sp>
        <p:nvSpPr>
          <p:cNvPr id="13" name="Chip Validate"/>
          <p:cNvSpPr/>
          <p:nvPr/>
        </p:nvSpPr>
        <p:spPr>
          <a:xfrm>
            <a:off x="8641080" y="4754880"/>
            <a:ext cx="1463040" cy="548640"/>
          </a:xfrm>
          <a:prstGeom prst="roundRect">
            <a:avLst>
              <a:gd name="adj" fmla="val 13333"/>
            </a:avLst>
          </a:prstGeom>
          <a:solidFill>
            <a:schemeClr val="accent2"/>
          </a:solidFill>
          <a:ln w="12700">
            <a:solidFill>
              <a:schemeClr val="accent2"/>
            </a:solidFill>
            <a:prstDash val="solid"/>
          </a:ln>
        </p:spPr>
      </p:sp>
      <p:sp>
        <p:nvSpPr>
          <p:cNvPr id="14" name="Text 11"/>
          <p:cNvSpPr txBox="1"/>
          <p:nvPr/>
        </p:nvSpPr>
        <p:spPr>
          <a:xfrm>
            <a:off x="8641080" y="4754880"/>
            <a:ext cx="1463040" cy="548640"/>
          </a:xfrm>
          <a:prstGeom prst="rect">
            <a:avLst/>
          </a:prstGeom>
          <a:noFill/>
          <a:ln/>
        </p:spPr>
        <p:txBody>
          <a:bodyPr wrap="square" lIns="0" tIns="0" rIns="0" bIns="0" rtlCol="0" anchor="ctr"/>
          <a:lstStyle/>
          <a:p>
            <a:pPr algn="ctr" indent="0" marL="0">
              <a:buNone/>
            </a:pPr>
            <a:r>
              <a:rPr lang="en-US" sz="1600" b="1" dirty="0">
                <a:solidFill>
                  <a:schemeClr val="tx2"/>
                </a:solidFill>
              </a:rPr>
              <a:t>Validate</a:t>
            </a:r>
            <a:endParaRPr lang="en-US" sz="1600" dirty="0"/>
          </a:p>
        </p:txBody>
      </p:sp>
      <p:sp>
        <p:nvSpPr>
          <p:cNvPr id="15" name="Chip Report"/>
          <p:cNvSpPr/>
          <p:nvPr/>
        </p:nvSpPr>
        <p:spPr>
          <a:xfrm>
            <a:off x="10195560" y="4754880"/>
            <a:ext cx="1463040" cy="548640"/>
          </a:xfrm>
          <a:prstGeom prst="roundRect">
            <a:avLst>
              <a:gd name="adj" fmla="val 13333"/>
            </a:avLst>
          </a:prstGeom>
          <a:solidFill>
            <a:schemeClr val="accent3"/>
          </a:solidFill>
          <a:ln w="12700">
            <a:solidFill>
              <a:schemeClr val="accent3"/>
            </a:solidFill>
            <a:prstDash val="solid"/>
          </a:ln>
        </p:spPr>
      </p:sp>
      <p:sp>
        <p:nvSpPr>
          <p:cNvPr id="16" name="Text 13"/>
          <p:cNvSpPr txBox="1"/>
          <p:nvPr/>
        </p:nvSpPr>
        <p:spPr>
          <a:xfrm>
            <a:off x="10195560" y="4754880"/>
            <a:ext cx="1463040" cy="548640"/>
          </a:xfrm>
          <a:prstGeom prst="rect">
            <a:avLst/>
          </a:prstGeom>
          <a:noFill/>
          <a:ln/>
        </p:spPr>
        <p:txBody>
          <a:bodyPr wrap="square" lIns="0" tIns="0" rIns="0" bIns="0" rtlCol="0" anchor="ctr"/>
          <a:lstStyle/>
          <a:p>
            <a:pPr algn="ctr" indent="0" marL="0">
              <a:buNone/>
            </a:pPr>
            <a:r>
              <a:rPr lang="en-US" sz="1600" b="1" dirty="0">
                <a:solidFill>
                  <a:schemeClr val="bg1"/>
                </a:solidFill>
              </a:rPr>
              <a:t>Report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Internship at a Glance</a:t>
            </a:r>
            <a:endParaRPr lang="en-US" sz="3000" dirty="0"/>
          </a:p>
        </p:txBody>
      </p:sp>
      <p:sp>
        <p:nvSpPr>
          <p:cNvPr id="3" name="Organisation card"/>
          <p:cNvSpPr/>
          <p:nvPr/>
        </p:nvSpPr>
        <p:spPr>
          <a:xfrm>
            <a:off x="548640" y="1463040"/>
            <a:ext cx="5120640" cy="4663440"/>
          </a:xfrm>
          <a:prstGeom prst="roundRect">
            <a:avLst>
              <a:gd name="adj" fmla="val 1569"/>
            </a:avLst>
          </a:prstGeom>
          <a:solidFill>
            <a:schemeClr val="bg2"/>
          </a:solidFill>
          <a:ln w="12700">
            <a:solidFill>
              <a:schemeClr val="bg2"/>
            </a:solidFill>
            <a:prstDash val="solid"/>
          </a:ln>
        </p:spPr>
      </p:sp>
      <p:sp>
        <p:nvSpPr>
          <p:cNvPr id="4" name="Text 2"/>
          <p:cNvSpPr txBox="1"/>
          <p:nvPr/>
        </p:nvSpPr>
        <p:spPr>
          <a:xfrm>
            <a:off x="868680" y="1737360"/>
            <a:ext cx="44805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ORGANISATION</a:t>
            </a:r>
            <a:endParaRPr lang="en-US" sz="1200" dirty="0"/>
          </a:p>
        </p:txBody>
      </p:sp>
      <p:sp>
        <p:nvSpPr>
          <p:cNvPr id="5" name="Text 3"/>
          <p:cNvSpPr txBox="1"/>
          <p:nvPr/>
        </p:nvSpPr>
        <p:spPr>
          <a:xfrm>
            <a:off x="868680" y="2057400"/>
            <a:ext cx="4480560" cy="548640"/>
          </a:xfrm>
          <a:prstGeom prst="rect">
            <a:avLst/>
          </a:prstGeom>
          <a:noFill/>
          <a:ln/>
        </p:spPr>
        <p:txBody>
          <a:bodyPr wrap="square" lIns="0" tIns="0" rIns="0" bIns="0" rtlCol="0" anchor="t"/>
          <a:lstStyle/>
          <a:p>
            <a:pPr indent="0" marL="0">
              <a:buNone/>
            </a:pPr>
            <a:r>
              <a:rPr lang="en-US" sz="2800" b="1" dirty="0">
                <a:solidFill>
                  <a:schemeClr val="tx2"/>
                </a:solidFill>
                <a:latin typeface="+mj-lt" pitchFamily="34" charset="0"/>
                <a:ea typeface="+mj-lt" pitchFamily="34" charset="-122"/>
                <a:cs typeface="+mj-lt" pitchFamily="34" charset="-120"/>
              </a:rPr>
              <a:t>Fantasy Solution</a:t>
            </a:r>
            <a:endParaRPr lang="en-US" sz="2800" dirty="0"/>
          </a:p>
        </p:txBody>
      </p:sp>
      <p:sp>
        <p:nvSpPr>
          <p:cNvPr id="6" name="Text 4"/>
          <p:cNvSpPr txBox="1"/>
          <p:nvPr/>
        </p:nvSpPr>
        <p:spPr>
          <a:xfrm>
            <a:off x="868680" y="2651760"/>
            <a:ext cx="4480560" cy="320040"/>
          </a:xfrm>
          <a:prstGeom prst="rect">
            <a:avLst/>
          </a:prstGeom>
          <a:noFill/>
          <a:ln/>
        </p:spPr>
        <p:txBody>
          <a:bodyPr wrap="square" lIns="0" tIns="0" rIns="0" bIns="0" rtlCol="0" anchor="t"/>
          <a:lstStyle/>
          <a:p>
            <a:pPr indent="0" marL="0">
              <a:buNone/>
            </a:pPr>
            <a:r>
              <a:rPr lang="en-US" sz="1500" dirty="0">
                <a:solidFill>
                  <a:schemeClr val="accent4"/>
                </a:solidFill>
              </a:rPr>
              <a:t>Software development and training, Trichy</a:t>
            </a:r>
            <a:endParaRPr lang="en-US" sz="1500" dirty="0"/>
          </a:p>
        </p:txBody>
      </p:sp>
      <p:sp>
        <p:nvSpPr>
          <p:cNvPr id="7" name="Text 5"/>
          <p:cNvSpPr txBox="1"/>
          <p:nvPr/>
        </p:nvSpPr>
        <p:spPr>
          <a:xfrm>
            <a:off x="868680" y="3200400"/>
            <a:ext cx="4480560" cy="1554480"/>
          </a:xfrm>
          <a:prstGeom prst="rect">
            <a:avLst/>
          </a:prstGeom>
          <a:noFill/>
          <a:ln/>
        </p:spPr>
        <p:txBody>
          <a:bodyPr wrap="square" lIns="0" tIns="0" rIns="0" bIns="0" rtlCol="0" anchor="t"/>
          <a:lstStyle/>
          <a:p>
            <a:pPr indent="0" marL="0">
              <a:buNone/>
            </a:pPr>
            <a:r>
              <a:rPr lang="en-US" sz="1700" dirty="0">
                <a:solidFill>
                  <a:schemeClr val="tx1"/>
                </a:solidFill>
              </a:rPr>
              <a:t>An IT solution and service provider offering application development, web design and hosting, ERP implementation, testing, and IT education and training.</a:t>
            </a:r>
            <a:endParaRPr lang="en-US" sz="1700" dirty="0"/>
          </a:p>
        </p:txBody>
      </p:sp>
      <p:sp>
        <p:nvSpPr>
          <p:cNvPr id="8" name="Text 6"/>
          <p:cNvSpPr txBox="1"/>
          <p:nvPr/>
        </p:nvSpPr>
        <p:spPr>
          <a:xfrm>
            <a:off x="868680" y="5212080"/>
            <a:ext cx="4480560" cy="640080"/>
          </a:xfrm>
          <a:prstGeom prst="rect">
            <a:avLst/>
          </a:prstGeom>
          <a:noFill/>
          <a:ln/>
        </p:spPr>
        <p:txBody>
          <a:bodyPr wrap="square" lIns="0" tIns="0" rIns="0" bIns="0" rtlCol="0" anchor="t"/>
          <a:lstStyle/>
          <a:p>
            <a:pPr indent="0" marL="0">
              <a:buNone/>
            </a:pPr>
            <a:r>
              <a:rPr lang="en-US" sz="1400" dirty="0">
                <a:solidFill>
                  <a:schemeClr val="accent4"/>
                </a:solidFill>
              </a:rPr>
              <a:t>No 16, Samnath Plazza, Third Floor, Melapudur, Trichy-1</a:t>
            </a:r>
            <a:endParaRPr lang="en-US" sz="1400" dirty="0"/>
          </a:p>
        </p:txBody>
      </p:sp>
      <p:sp>
        <p:nvSpPr>
          <p:cNvPr id="9" name="Fact card 1"/>
          <p:cNvSpPr/>
          <p:nvPr/>
        </p:nvSpPr>
        <p:spPr>
          <a:xfrm>
            <a:off x="5943600" y="1463040"/>
            <a:ext cx="2816352" cy="2286000"/>
          </a:xfrm>
          <a:prstGeom prst="roundRect">
            <a:avLst>
              <a:gd name="adj" fmla="val 3200"/>
            </a:avLst>
          </a:prstGeom>
          <a:solidFill>
            <a:schemeClr val="bg2"/>
          </a:solidFill>
          <a:ln w="12700">
            <a:solidFill>
              <a:schemeClr val="bg2"/>
            </a:solidFill>
            <a:prstDash val="solid"/>
          </a:ln>
        </p:spPr>
      </p:sp>
      <p:sp>
        <p:nvSpPr>
          <p:cNvPr id="10" name="Shape 8"/>
          <p:cNvSpPr/>
          <p:nvPr/>
        </p:nvSpPr>
        <p:spPr>
          <a:xfrm>
            <a:off x="5943600" y="1737360"/>
            <a:ext cx="64008" cy="548640"/>
          </a:xfrm>
          <a:prstGeom prst="rect">
            <a:avLst/>
          </a:prstGeom>
          <a:solidFill>
            <a:schemeClr val="accent1"/>
          </a:solidFill>
          <a:ln w="12700">
            <a:solidFill>
              <a:schemeClr val="accent1"/>
            </a:solidFill>
            <a:prstDash val="solid"/>
          </a:ln>
        </p:spPr>
      </p:sp>
      <p:sp>
        <p:nvSpPr>
          <p:cNvPr id="11" name="Text 9"/>
          <p:cNvSpPr txBox="1"/>
          <p:nvPr/>
        </p:nvSpPr>
        <p:spPr>
          <a:xfrm>
            <a:off x="6217920" y="1737360"/>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DURATION</a:t>
            </a:r>
            <a:endParaRPr lang="en-US" sz="1200" dirty="0"/>
          </a:p>
        </p:txBody>
      </p:sp>
      <p:sp>
        <p:nvSpPr>
          <p:cNvPr id="12" name="Text 10"/>
          <p:cNvSpPr txBox="1"/>
          <p:nvPr/>
        </p:nvSpPr>
        <p:spPr>
          <a:xfrm>
            <a:off x="6217920" y="2148840"/>
            <a:ext cx="2377440" cy="8229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1 - 30 June 2026</a:t>
            </a:r>
            <a:endParaRPr lang="en-US" sz="1800" dirty="0"/>
          </a:p>
        </p:txBody>
      </p:sp>
      <p:sp>
        <p:nvSpPr>
          <p:cNvPr id="13" name="Text 11"/>
          <p:cNvSpPr txBox="1"/>
          <p:nvPr/>
        </p:nvSpPr>
        <p:spPr>
          <a:xfrm>
            <a:off x="6217920" y="3063240"/>
            <a:ext cx="2377440" cy="548640"/>
          </a:xfrm>
          <a:prstGeom prst="rect">
            <a:avLst/>
          </a:prstGeom>
          <a:noFill/>
          <a:ln/>
        </p:spPr>
        <p:txBody>
          <a:bodyPr wrap="square" lIns="0" tIns="0" rIns="0" bIns="0" rtlCol="0" anchor="t"/>
          <a:lstStyle/>
          <a:p>
            <a:pPr indent="0" marL="0">
              <a:buNone/>
            </a:pPr>
            <a:r>
              <a:rPr lang="en-US" sz="1400" dirty="0">
                <a:solidFill>
                  <a:schemeClr val="accent4"/>
                </a:solidFill>
              </a:rPr>
              <a:t>30-day internship</a:t>
            </a:r>
            <a:endParaRPr lang="en-US" sz="1400" dirty="0"/>
          </a:p>
        </p:txBody>
      </p:sp>
      <p:sp>
        <p:nvSpPr>
          <p:cNvPr id="14" name="Fact card 2"/>
          <p:cNvSpPr/>
          <p:nvPr/>
        </p:nvSpPr>
        <p:spPr>
          <a:xfrm>
            <a:off x="8897112" y="1463040"/>
            <a:ext cx="2816352" cy="2286000"/>
          </a:xfrm>
          <a:prstGeom prst="roundRect">
            <a:avLst>
              <a:gd name="adj" fmla="val 3200"/>
            </a:avLst>
          </a:prstGeom>
          <a:solidFill>
            <a:schemeClr val="bg2"/>
          </a:solidFill>
          <a:ln w="12700">
            <a:solidFill>
              <a:schemeClr val="bg2"/>
            </a:solidFill>
            <a:prstDash val="solid"/>
          </a:ln>
        </p:spPr>
      </p:sp>
      <p:sp>
        <p:nvSpPr>
          <p:cNvPr id="15" name="Shape 13"/>
          <p:cNvSpPr/>
          <p:nvPr/>
        </p:nvSpPr>
        <p:spPr>
          <a:xfrm>
            <a:off x="8897112" y="1737360"/>
            <a:ext cx="64008" cy="548640"/>
          </a:xfrm>
          <a:prstGeom prst="rect">
            <a:avLst/>
          </a:prstGeom>
          <a:solidFill>
            <a:schemeClr val="accent1"/>
          </a:solidFill>
          <a:ln w="12700">
            <a:solidFill>
              <a:schemeClr val="accent1"/>
            </a:solidFill>
            <a:prstDash val="solid"/>
          </a:ln>
        </p:spPr>
      </p:sp>
      <p:sp>
        <p:nvSpPr>
          <p:cNvPr id="16" name="Text 14"/>
          <p:cNvSpPr txBox="1"/>
          <p:nvPr/>
        </p:nvSpPr>
        <p:spPr>
          <a:xfrm>
            <a:off x="9171432" y="1737360"/>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PROGRAMME</a:t>
            </a:r>
            <a:endParaRPr lang="en-US" sz="1200" dirty="0"/>
          </a:p>
        </p:txBody>
      </p:sp>
      <p:sp>
        <p:nvSpPr>
          <p:cNvPr id="17" name="Text 15"/>
          <p:cNvSpPr txBox="1"/>
          <p:nvPr/>
        </p:nvSpPr>
        <p:spPr>
          <a:xfrm>
            <a:off x="9171432" y="2148840"/>
            <a:ext cx="2377440" cy="8229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Python Programming</a:t>
            </a:r>
            <a:endParaRPr lang="en-US" sz="1800" dirty="0"/>
          </a:p>
        </p:txBody>
      </p:sp>
      <p:sp>
        <p:nvSpPr>
          <p:cNvPr id="18" name="Text 16"/>
          <p:cNvSpPr txBox="1"/>
          <p:nvPr/>
        </p:nvSpPr>
        <p:spPr>
          <a:xfrm>
            <a:off x="9171432" y="3063240"/>
            <a:ext cx="2377440" cy="548640"/>
          </a:xfrm>
          <a:prstGeom prst="rect">
            <a:avLst/>
          </a:prstGeom>
          <a:noFill/>
          <a:ln/>
        </p:spPr>
        <p:txBody>
          <a:bodyPr wrap="square" lIns="0" tIns="0" rIns="0" bIns="0" rtlCol="0" anchor="t"/>
          <a:lstStyle/>
          <a:p>
            <a:pPr indent="0" marL="0">
              <a:buNone/>
            </a:pPr>
            <a:r>
              <a:rPr lang="en-US" sz="1400" dirty="0">
                <a:solidFill>
                  <a:schemeClr val="accent4"/>
                </a:solidFill>
              </a:rPr>
              <a:t>Software application development</a:t>
            </a:r>
            <a:endParaRPr lang="en-US" sz="1400" dirty="0"/>
          </a:p>
        </p:txBody>
      </p:sp>
      <p:sp>
        <p:nvSpPr>
          <p:cNvPr id="19" name="Fact card 3"/>
          <p:cNvSpPr/>
          <p:nvPr/>
        </p:nvSpPr>
        <p:spPr>
          <a:xfrm>
            <a:off x="5943600" y="3840480"/>
            <a:ext cx="2816352" cy="2286000"/>
          </a:xfrm>
          <a:prstGeom prst="roundRect">
            <a:avLst>
              <a:gd name="adj" fmla="val 3200"/>
            </a:avLst>
          </a:prstGeom>
          <a:solidFill>
            <a:schemeClr val="bg2"/>
          </a:solidFill>
          <a:ln w="12700">
            <a:solidFill>
              <a:schemeClr val="bg2"/>
            </a:solidFill>
            <a:prstDash val="solid"/>
          </a:ln>
        </p:spPr>
      </p:sp>
      <p:sp>
        <p:nvSpPr>
          <p:cNvPr id="20" name="Shape 18"/>
          <p:cNvSpPr/>
          <p:nvPr/>
        </p:nvSpPr>
        <p:spPr>
          <a:xfrm>
            <a:off x="5943600" y="4114800"/>
            <a:ext cx="64008" cy="548640"/>
          </a:xfrm>
          <a:prstGeom prst="rect">
            <a:avLst/>
          </a:prstGeom>
          <a:solidFill>
            <a:schemeClr val="accent1"/>
          </a:solidFill>
          <a:ln w="12700">
            <a:solidFill>
              <a:schemeClr val="accent1"/>
            </a:solidFill>
            <a:prstDash val="solid"/>
          </a:ln>
        </p:spPr>
      </p:sp>
      <p:sp>
        <p:nvSpPr>
          <p:cNvPr id="21" name="Text 19"/>
          <p:cNvSpPr txBox="1"/>
          <p:nvPr/>
        </p:nvSpPr>
        <p:spPr>
          <a:xfrm>
            <a:off x="6217920" y="4114800"/>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JOINT SUPERVISOR</a:t>
            </a:r>
            <a:endParaRPr lang="en-US" sz="1200" dirty="0"/>
          </a:p>
        </p:txBody>
      </p:sp>
      <p:sp>
        <p:nvSpPr>
          <p:cNvPr id="22" name="Text 20"/>
          <p:cNvSpPr txBox="1"/>
          <p:nvPr/>
        </p:nvSpPr>
        <p:spPr>
          <a:xfrm>
            <a:off x="6217920" y="4526280"/>
            <a:ext cx="2377440" cy="8229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Mohamed Ibrahim</a:t>
            </a:r>
            <a:endParaRPr lang="en-US" sz="1800" dirty="0"/>
          </a:p>
        </p:txBody>
      </p:sp>
      <p:sp>
        <p:nvSpPr>
          <p:cNvPr id="23" name="Text 21"/>
          <p:cNvSpPr txBox="1"/>
          <p:nvPr/>
        </p:nvSpPr>
        <p:spPr>
          <a:xfrm>
            <a:off x="6217920" y="5440680"/>
            <a:ext cx="2377440" cy="548640"/>
          </a:xfrm>
          <a:prstGeom prst="rect">
            <a:avLst/>
          </a:prstGeom>
          <a:noFill/>
          <a:ln/>
        </p:spPr>
        <p:txBody>
          <a:bodyPr wrap="square" lIns="0" tIns="0" rIns="0" bIns="0" rtlCol="0" anchor="t"/>
          <a:lstStyle/>
          <a:p>
            <a:pPr indent="0" marL="0">
              <a:buNone/>
            </a:pPr>
            <a:r>
              <a:rPr lang="en-US" sz="1400" dirty="0">
                <a:solidFill>
                  <a:schemeClr val="accent4"/>
                </a:solidFill>
              </a:rPr>
              <a:t>Software Developer, MCA</a:t>
            </a:r>
            <a:endParaRPr lang="en-US" sz="1400" dirty="0"/>
          </a:p>
        </p:txBody>
      </p:sp>
      <p:sp>
        <p:nvSpPr>
          <p:cNvPr id="24" name="Fact card 4"/>
          <p:cNvSpPr/>
          <p:nvPr/>
        </p:nvSpPr>
        <p:spPr>
          <a:xfrm>
            <a:off x="8897112" y="3840480"/>
            <a:ext cx="2816352" cy="2286000"/>
          </a:xfrm>
          <a:prstGeom prst="roundRect">
            <a:avLst>
              <a:gd name="adj" fmla="val 3200"/>
            </a:avLst>
          </a:prstGeom>
          <a:solidFill>
            <a:schemeClr val="bg2"/>
          </a:solidFill>
          <a:ln w="12700">
            <a:solidFill>
              <a:schemeClr val="bg2"/>
            </a:solidFill>
            <a:prstDash val="solid"/>
          </a:ln>
        </p:spPr>
      </p:sp>
      <p:sp>
        <p:nvSpPr>
          <p:cNvPr id="25" name="Shape 23"/>
          <p:cNvSpPr/>
          <p:nvPr/>
        </p:nvSpPr>
        <p:spPr>
          <a:xfrm>
            <a:off x="8897112" y="4114800"/>
            <a:ext cx="64008" cy="548640"/>
          </a:xfrm>
          <a:prstGeom prst="rect">
            <a:avLst/>
          </a:prstGeom>
          <a:solidFill>
            <a:schemeClr val="accent1"/>
          </a:solidFill>
          <a:ln w="12700">
            <a:solidFill>
              <a:schemeClr val="accent1"/>
            </a:solidFill>
            <a:prstDash val="solid"/>
          </a:ln>
        </p:spPr>
      </p:sp>
      <p:sp>
        <p:nvSpPr>
          <p:cNvPr id="26" name="Text 24"/>
          <p:cNvSpPr txBox="1"/>
          <p:nvPr/>
        </p:nvSpPr>
        <p:spPr>
          <a:xfrm>
            <a:off x="9171432" y="4114800"/>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PROJECT</a:t>
            </a:r>
            <a:endParaRPr lang="en-US" sz="1200" dirty="0"/>
          </a:p>
        </p:txBody>
      </p:sp>
      <p:sp>
        <p:nvSpPr>
          <p:cNvPr id="27" name="Text 25"/>
          <p:cNvSpPr txBox="1"/>
          <p:nvPr/>
        </p:nvSpPr>
        <p:spPr>
          <a:xfrm>
            <a:off x="9171432" y="4526280"/>
            <a:ext cx="2377440" cy="8229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Student Feedback System</a:t>
            </a:r>
            <a:endParaRPr lang="en-US" sz="1800" dirty="0"/>
          </a:p>
        </p:txBody>
      </p:sp>
      <p:sp>
        <p:nvSpPr>
          <p:cNvPr id="28" name="Text 26"/>
          <p:cNvSpPr txBox="1"/>
          <p:nvPr/>
        </p:nvSpPr>
        <p:spPr>
          <a:xfrm>
            <a:off x="9171432" y="5440680"/>
            <a:ext cx="2377440" cy="548640"/>
          </a:xfrm>
          <a:prstGeom prst="rect">
            <a:avLst/>
          </a:prstGeom>
          <a:noFill/>
          <a:ln/>
        </p:spPr>
        <p:txBody>
          <a:bodyPr wrap="square" lIns="0" tIns="0" rIns="0" bIns="0" rtlCol="0" anchor="t"/>
          <a:lstStyle/>
          <a:p>
            <a:pPr indent="0" marL="0">
              <a:buNone/>
            </a:pPr>
            <a:r>
              <a:rPr lang="en-US" sz="1400" dirty="0">
                <a:solidFill>
                  <a:schemeClr val="accent4"/>
                </a:solidFill>
              </a:rPr>
              <a:t>Python, Tkinter and SQLite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Objectives of the Internship</a:t>
            </a:r>
            <a:endParaRPr lang="en-US" sz="3000" dirty="0"/>
          </a:p>
        </p:txBody>
      </p:sp>
      <p:sp>
        <p:nvSpPr>
          <p:cNvPr id="3" name="Objective 1"/>
          <p:cNvSpPr/>
          <p:nvPr/>
        </p:nvSpPr>
        <p:spPr>
          <a:xfrm>
            <a:off x="548640" y="1463040"/>
            <a:ext cx="3566160" cy="2286000"/>
          </a:xfrm>
          <a:prstGeom prst="roundRect">
            <a:avLst>
              <a:gd name="adj" fmla="val 3200"/>
            </a:avLst>
          </a:prstGeom>
          <a:solidFill>
            <a:schemeClr val="bg2"/>
          </a:solidFill>
          <a:ln w="12700">
            <a:solidFill>
              <a:schemeClr val="bg2"/>
            </a:solidFill>
            <a:prstDash val="solid"/>
          </a:ln>
        </p:spPr>
      </p:sp>
      <p:sp>
        <p:nvSpPr>
          <p:cNvPr id="4" name="Number 1"/>
          <p:cNvSpPr/>
          <p:nvPr/>
        </p:nvSpPr>
        <p:spPr>
          <a:xfrm>
            <a:off x="822960" y="173736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82296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Software lifecycle</a:t>
            </a:r>
            <a:endParaRPr lang="en-US" sz="1800" dirty="0"/>
          </a:p>
        </p:txBody>
      </p:sp>
      <p:sp>
        <p:nvSpPr>
          <p:cNvPr id="7" name="Text 5"/>
          <p:cNvSpPr txBox="1"/>
          <p:nvPr/>
        </p:nvSpPr>
        <p:spPr>
          <a:xfrm>
            <a:off x="822960" y="2834640"/>
            <a:ext cx="3017520" cy="777240"/>
          </a:xfrm>
          <a:prstGeom prst="rect">
            <a:avLst/>
          </a:prstGeom>
          <a:noFill/>
          <a:ln/>
        </p:spPr>
        <p:txBody>
          <a:bodyPr wrap="square" lIns="0" tIns="0" rIns="0" bIns="0" rtlCol="0" anchor="t"/>
          <a:lstStyle/>
          <a:p>
            <a:pPr indent="0" marL="0">
              <a:buNone/>
            </a:pPr>
            <a:r>
              <a:rPr lang="en-US" sz="1500" dirty="0">
                <a:solidFill>
                  <a:schemeClr val="tx1"/>
                </a:solidFill>
              </a:rPr>
              <a:t>Understand the development lifecycle followed in a professional environment</a:t>
            </a:r>
            <a:endParaRPr lang="en-US" sz="1500" dirty="0"/>
          </a:p>
        </p:txBody>
      </p:sp>
      <p:sp>
        <p:nvSpPr>
          <p:cNvPr id="8" name="Objective 2"/>
          <p:cNvSpPr/>
          <p:nvPr/>
        </p:nvSpPr>
        <p:spPr>
          <a:xfrm>
            <a:off x="4311396" y="1463040"/>
            <a:ext cx="3566160" cy="2286000"/>
          </a:xfrm>
          <a:prstGeom prst="roundRect">
            <a:avLst>
              <a:gd name="adj" fmla="val 3200"/>
            </a:avLst>
          </a:prstGeom>
          <a:solidFill>
            <a:schemeClr val="bg2"/>
          </a:solidFill>
          <a:ln w="12700">
            <a:solidFill>
              <a:schemeClr val="bg2"/>
            </a:solidFill>
            <a:prstDash val="solid"/>
          </a:ln>
        </p:spPr>
      </p:sp>
      <p:sp>
        <p:nvSpPr>
          <p:cNvPr id="9" name="Number 2"/>
          <p:cNvSpPr/>
          <p:nvPr/>
        </p:nvSpPr>
        <p:spPr>
          <a:xfrm>
            <a:off x="4585716" y="17373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585716"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4585716" y="242316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Modular Python</a:t>
            </a:r>
            <a:endParaRPr lang="en-US" sz="1800" dirty="0"/>
          </a:p>
        </p:txBody>
      </p:sp>
      <p:sp>
        <p:nvSpPr>
          <p:cNvPr id="12" name="Text 10"/>
          <p:cNvSpPr txBox="1"/>
          <p:nvPr/>
        </p:nvSpPr>
        <p:spPr>
          <a:xfrm>
            <a:off x="4585716" y="2834640"/>
            <a:ext cx="3017520" cy="777240"/>
          </a:xfrm>
          <a:prstGeom prst="rect">
            <a:avLst/>
          </a:prstGeom>
          <a:noFill/>
          <a:ln/>
        </p:spPr>
        <p:txBody>
          <a:bodyPr wrap="square" lIns="0" tIns="0" rIns="0" bIns="0" rtlCol="0" anchor="t"/>
          <a:lstStyle/>
          <a:p>
            <a:pPr indent="0" marL="0">
              <a:buNone/>
            </a:pPr>
            <a:r>
              <a:rPr lang="en-US" sz="1500" dirty="0">
                <a:solidFill>
                  <a:schemeClr val="tx1"/>
                </a:solidFill>
              </a:rPr>
              <a:t>Strengthen Python skills and build modular applications</a:t>
            </a:r>
            <a:endParaRPr lang="en-US" sz="1500" dirty="0"/>
          </a:p>
        </p:txBody>
      </p:sp>
      <p:sp>
        <p:nvSpPr>
          <p:cNvPr id="13" name="Objective 3"/>
          <p:cNvSpPr/>
          <p:nvPr/>
        </p:nvSpPr>
        <p:spPr>
          <a:xfrm>
            <a:off x="8074152" y="1463040"/>
            <a:ext cx="3566160" cy="2286000"/>
          </a:xfrm>
          <a:prstGeom prst="roundRect">
            <a:avLst>
              <a:gd name="adj" fmla="val 3200"/>
            </a:avLst>
          </a:prstGeom>
          <a:solidFill>
            <a:schemeClr val="bg2"/>
          </a:solidFill>
          <a:ln w="12700">
            <a:solidFill>
              <a:schemeClr val="bg2"/>
            </a:solidFill>
            <a:prstDash val="solid"/>
          </a:ln>
        </p:spPr>
      </p:sp>
      <p:sp>
        <p:nvSpPr>
          <p:cNvPr id="14" name="Number 3"/>
          <p:cNvSpPr/>
          <p:nvPr/>
        </p:nvSpPr>
        <p:spPr>
          <a:xfrm>
            <a:off x="8348472" y="173736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8348472"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348472" y="242316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Feedback workflow</a:t>
            </a:r>
            <a:endParaRPr lang="en-US" sz="1800" dirty="0"/>
          </a:p>
        </p:txBody>
      </p:sp>
      <p:sp>
        <p:nvSpPr>
          <p:cNvPr id="17" name="Text 15"/>
          <p:cNvSpPr txBox="1"/>
          <p:nvPr/>
        </p:nvSpPr>
        <p:spPr>
          <a:xfrm>
            <a:off x="8348472" y="2834640"/>
            <a:ext cx="3017520" cy="777240"/>
          </a:xfrm>
          <a:prstGeom prst="rect">
            <a:avLst/>
          </a:prstGeom>
          <a:noFill/>
          <a:ln/>
        </p:spPr>
        <p:txBody>
          <a:bodyPr wrap="square" lIns="0" tIns="0" rIns="0" bIns="0" rtlCol="0" anchor="t"/>
          <a:lstStyle/>
          <a:p>
            <a:pPr indent="0" marL="0">
              <a:buNone/>
            </a:pPr>
            <a:r>
              <a:rPr lang="en-US" sz="1500" dirty="0">
                <a:solidFill>
                  <a:schemeClr val="tx1"/>
                </a:solidFill>
              </a:rPr>
              <a:t>Design and implement a digital student feedback workflow</a:t>
            </a:r>
            <a:endParaRPr lang="en-US" sz="1500" dirty="0"/>
          </a:p>
        </p:txBody>
      </p:sp>
      <p:sp>
        <p:nvSpPr>
          <p:cNvPr id="18" name="Objective 4"/>
          <p:cNvSpPr/>
          <p:nvPr/>
        </p:nvSpPr>
        <p:spPr>
          <a:xfrm>
            <a:off x="548640" y="3931920"/>
            <a:ext cx="3566160" cy="2286000"/>
          </a:xfrm>
          <a:prstGeom prst="roundRect">
            <a:avLst>
              <a:gd name="adj" fmla="val 3200"/>
            </a:avLst>
          </a:prstGeom>
          <a:solidFill>
            <a:schemeClr val="bg2"/>
          </a:solidFill>
          <a:ln w="12700">
            <a:solidFill>
              <a:schemeClr val="bg2"/>
            </a:solidFill>
            <a:prstDash val="solid"/>
          </a:ln>
        </p:spPr>
      </p:sp>
      <p:sp>
        <p:nvSpPr>
          <p:cNvPr id="19" name="Number 4"/>
          <p:cNvSpPr/>
          <p:nvPr/>
        </p:nvSpPr>
        <p:spPr>
          <a:xfrm>
            <a:off x="822960" y="420624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822960" y="4206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822960"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Database operations</a:t>
            </a:r>
            <a:endParaRPr lang="en-US" sz="1800" dirty="0"/>
          </a:p>
        </p:txBody>
      </p:sp>
      <p:sp>
        <p:nvSpPr>
          <p:cNvPr id="22" name="Text 20"/>
          <p:cNvSpPr txBox="1"/>
          <p:nvPr/>
        </p:nvSpPr>
        <p:spPr>
          <a:xfrm>
            <a:off x="822960" y="5303520"/>
            <a:ext cx="3017520" cy="777240"/>
          </a:xfrm>
          <a:prstGeom prst="rect">
            <a:avLst/>
          </a:prstGeom>
          <a:noFill/>
          <a:ln/>
        </p:spPr>
        <p:txBody>
          <a:bodyPr wrap="square" lIns="0" tIns="0" rIns="0" bIns="0" rtlCol="0" anchor="t"/>
          <a:lstStyle/>
          <a:p>
            <a:pPr indent="0" marL="0">
              <a:buNone/>
            </a:pPr>
            <a:r>
              <a:rPr lang="en-US" sz="1500" dirty="0">
                <a:solidFill>
                  <a:schemeClr val="tx1"/>
                </a:solidFill>
              </a:rPr>
              <a:t>Create, insert, retrieve and update data using SQLite</a:t>
            </a:r>
            <a:endParaRPr lang="en-US" sz="1500" dirty="0"/>
          </a:p>
        </p:txBody>
      </p:sp>
      <p:sp>
        <p:nvSpPr>
          <p:cNvPr id="23" name="Objective 5"/>
          <p:cNvSpPr/>
          <p:nvPr/>
        </p:nvSpPr>
        <p:spPr>
          <a:xfrm>
            <a:off x="4311396" y="3931920"/>
            <a:ext cx="3566160" cy="2286000"/>
          </a:xfrm>
          <a:prstGeom prst="roundRect">
            <a:avLst>
              <a:gd name="adj" fmla="val 3200"/>
            </a:avLst>
          </a:prstGeom>
          <a:solidFill>
            <a:schemeClr val="bg2"/>
          </a:solidFill>
          <a:ln w="12700">
            <a:solidFill>
              <a:schemeClr val="bg2"/>
            </a:solidFill>
            <a:prstDash val="solid"/>
          </a:ln>
        </p:spPr>
      </p:sp>
      <p:sp>
        <p:nvSpPr>
          <p:cNvPr id="24" name="Number 5"/>
          <p:cNvSpPr/>
          <p:nvPr/>
        </p:nvSpPr>
        <p:spPr>
          <a:xfrm>
            <a:off x="4585716" y="420624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4585716" y="4206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4585716"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Validation and security</a:t>
            </a:r>
            <a:endParaRPr lang="en-US" sz="1800" dirty="0"/>
          </a:p>
        </p:txBody>
      </p:sp>
      <p:sp>
        <p:nvSpPr>
          <p:cNvPr id="27" name="Text 25"/>
          <p:cNvSpPr txBox="1"/>
          <p:nvPr/>
        </p:nvSpPr>
        <p:spPr>
          <a:xfrm>
            <a:off x="4585716" y="5303520"/>
            <a:ext cx="3017520" cy="777240"/>
          </a:xfrm>
          <a:prstGeom prst="rect">
            <a:avLst/>
          </a:prstGeom>
          <a:noFill/>
          <a:ln/>
        </p:spPr>
        <p:txBody>
          <a:bodyPr wrap="square" lIns="0" tIns="0" rIns="0" bIns="0" rtlCol="0" anchor="t"/>
          <a:lstStyle/>
          <a:p>
            <a:pPr indent="0" marL="0">
              <a:buNone/>
            </a:pPr>
            <a:r>
              <a:rPr lang="en-US" sz="1500" dirty="0">
                <a:solidFill>
                  <a:schemeClr val="tx1"/>
                </a:solidFill>
              </a:rPr>
              <a:t>Apply input validation and basic security practices</a:t>
            </a:r>
            <a:endParaRPr lang="en-US" sz="1500" dirty="0"/>
          </a:p>
        </p:txBody>
      </p:sp>
      <p:sp>
        <p:nvSpPr>
          <p:cNvPr id="28" name="Objective 6"/>
          <p:cNvSpPr/>
          <p:nvPr/>
        </p:nvSpPr>
        <p:spPr>
          <a:xfrm>
            <a:off x="8074152" y="3931920"/>
            <a:ext cx="3566160" cy="2286000"/>
          </a:xfrm>
          <a:prstGeom prst="roundRect">
            <a:avLst>
              <a:gd name="adj" fmla="val 3200"/>
            </a:avLst>
          </a:prstGeom>
          <a:solidFill>
            <a:schemeClr val="bg2"/>
          </a:solidFill>
          <a:ln w="12700">
            <a:solidFill>
              <a:schemeClr val="bg2"/>
            </a:solidFill>
            <a:prstDash val="solid"/>
          </a:ln>
        </p:spPr>
      </p:sp>
      <p:sp>
        <p:nvSpPr>
          <p:cNvPr id="29" name="Number 6"/>
          <p:cNvSpPr/>
          <p:nvPr/>
        </p:nvSpPr>
        <p:spPr>
          <a:xfrm>
            <a:off x="8348472" y="420624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8348472" y="4206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348472"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Testing and docs</a:t>
            </a:r>
            <a:endParaRPr lang="en-US" sz="1800" dirty="0"/>
          </a:p>
        </p:txBody>
      </p:sp>
      <p:sp>
        <p:nvSpPr>
          <p:cNvPr id="32" name="Text 30"/>
          <p:cNvSpPr txBox="1"/>
          <p:nvPr/>
        </p:nvSpPr>
        <p:spPr>
          <a:xfrm>
            <a:off x="8348472" y="5303520"/>
            <a:ext cx="3017520" cy="777240"/>
          </a:xfrm>
          <a:prstGeom prst="rect">
            <a:avLst/>
          </a:prstGeom>
          <a:noFill/>
          <a:ln/>
        </p:spPr>
        <p:txBody>
          <a:bodyPr wrap="square" lIns="0" tIns="0" rIns="0" bIns="0" rtlCol="0" anchor="t"/>
          <a:lstStyle/>
          <a:p>
            <a:pPr indent="0" marL="0">
              <a:buNone/>
            </a:pPr>
            <a:r>
              <a:rPr lang="en-US" sz="1500" dirty="0">
                <a:solidFill>
                  <a:schemeClr val="tx1"/>
                </a:solidFill>
              </a:rPr>
              <a:t>Run functional tests, analyse results and document the work</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30-Day Learning Journey</a:t>
            </a:r>
            <a:endParaRPr lang="en-US" sz="3000" dirty="0"/>
          </a:p>
        </p:txBody>
      </p:sp>
      <p:sp>
        <p:nvSpPr>
          <p:cNvPr id="3" name="Phase header 1"/>
          <p:cNvSpPr/>
          <p:nvPr/>
        </p:nvSpPr>
        <p:spPr>
          <a:xfrm>
            <a:off x="548640" y="1463040"/>
            <a:ext cx="3566160" cy="914400"/>
          </a:xfrm>
          <a:prstGeom prst="roundRect">
            <a:avLst>
              <a:gd name="adj" fmla="val 8000"/>
            </a:avLst>
          </a:prstGeom>
          <a:solidFill>
            <a:schemeClr val="accent1"/>
          </a:solidFill>
          <a:ln w="12700">
            <a:solidFill>
              <a:schemeClr val="accent1"/>
            </a:solidFill>
            <a:prstDash val="solid"/>
          </a:ln>
        </p:spPr>
      </p:sp>
      <p:sp>
        <p:nvSpPr>
          <p:cNvPr id="4" name="Text 2"/>
          <p:cNvSpPr txBox="1"/>
          <p:nvPr/>
        </p:nvSpPr>
        <p:spPr>
          <a:xfrm>
            <a:off x="822960" y="1600200"/>
            <a:ext cx="3017520" cy="36576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Days 1-10</a:t>
            </a:r>
            <a:endParaRPr lang="en-US" sz="2200" dirty="0"/>
          </a:p>
        </p:txBody>
      </p:sp>
      <p:sp>
        <p:nvSpPr>
          <p:cNvPr id="5" name="Text 3"/>
          <p:cNvSpPr txBox="1"/>
          <p:nvPr/>
        </p:nvSpPr>
        <p:spPr>
          <a:xfrm>
            <a:off x="822960" y="2011680"/>
            <a:ext cx="3017520" cy="274320"/>
          </a:xfrm>
          <a:prstGeom prst="rect">
            <a:avLst/>
          </a:prstGeom>
          <a:noFill/>
          <a:ln/>
        </p:spPr>
        <p:txBody>
          <a:bodyPr wrap="square" lIns="0" tIns="0" rIns="0" bIns="0" rtlCol="0" anchor="t"/>
          <a:lstStyle/>
          <a:p>
            <a:pPr indent="0" marL="0">
              <a:buNone/>
            </a:pPr>
            <a:r>
              <a:rPr lang="en-US" sz="1500" dirty="0">
                <a:solidFill>
                  <a:schemeClr val="bg1"/>
                </a:solidFill>
              </a:rPr>
              <a:t>Python foundations</a:t>
            </a:r>
            <a:endParaRPr lang="en-US" sz="1500" dirty="0"/>
          </a:p>
        </p:txBody>
      </p:sp>
      <p:sp>
        <p:nvSpPr>
          <p:cNvPr id="6" name="Phase body 1"/>
          <p:cNvSpPr/>
          <p:nvPr/>
        </p:nvSpPr>
        <p:spPr>
          <a:xfrm>
            <a:off x="548640" y="2468880"/>
            <a:ext cx="3566160" cy="3017520"/>
          </a:xfrm>
          <a:prstGeom prst="roundRect">
            <a:avLst>
              <a:gd name="adj" fmla="val 2424"/>
            </a:avLst>
          </a:prstGeom>
          <a:solidFill>
            <a:schemeClr val="bg2"/>
          </a:solidFill>
          <a:ln w="12700">
            <a:solidFill>
              <a:schemeClr val="bg2"/>
            </a:solidFill>
            <a:prstDash val="solid"/>
          </a:ln>
        </p:spPr>
      </p:sp>
      <p:sp>
        <p:nvSpPr>
          <p:cNvPr id="7" name="Text 5"/>
          <p:cNvSpPr txBox="1"/>
          <p:nvPr/>
        </p:nvSpPr>
        <p:spPr>
          <a:xfrm>
            <a:off x="822960" y="2697480"/>
            <a:ext cx="3108960" cy="265176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chemeClr val="tx1"/>
                </a:solidFill>
              </a:rPr>
              <a:t>Data types and print statements</a:t>
            </a:r>
            <a:endParaRPr lang="en-US" sz="1700" dirty="0"/>
          </a:p>
          <a:p>
            <a:pPr marL="203200" indent="-203200">
              <a:spcAft>
                <a:spcPts val="900"/>
              </a:spcAft>
              <a:buSzPct val="100000"/>
              <a:buChar char="•"/>
            </a:pPr>
            <a:r>
              <a:rPr lang="en-US" sz="1700" dirty="0">
                <a:solidFill>
                  <a:schemeClr val="tx1"/>
                </a:solidFill>
              </a:rPr>
              <a:t>Variables and naming</a:t>
            </a:r>
            <a:endParaRPr lang="en-US" sz="1700" dirty="0"/>
          </a:p>
          <a:p>
            <a:pPr marL="203200" indent="-203200">
              <a:spcAft>
                <a:spcPts val="900"/>
              </a:spcAft>
              <a:buSzPct val="100000"/>
              <a:buChar char="•"/>
            </a:pPr>
            <a:r>
              <a:rPr lang="en-US" sz="1700" dirty="0">
                <a:solidFill>
                  <a:schemeClr val="tx1"/>
                </a:solidFill>
              </a:rPr>
              <a:t>Control flow and loops</a:t>
            </a:r>
            <a:endParaRPr lang="en-US" sz="1700" dirty="0"/>
          </a:p>
          <a:p>
            <a:pPr marL="203200" indent="-203200">
              <a:spcAft>
                <a:spcPts val="900"/>
              </a:spcAft>
              <a:buSzPct val="100000"/>
              <a:buChar char="•"/>
            </a:pPr>
            <a:r>
              <a:rPr lang="en-US" sz="1700" dirty="0">
                <a:solidFill>
                  <a:schemeClr val="tx1"/>
                </a:solidFill>
              </a:rPr>
              <a:t>Lists, strings, dictionaries, sets</a:t>
            </a:r>
            <a:endParaRPr lang="en-US" sz="1700" dirty="0"/>
          </a:p>
          <a:p>
            <a:pPr marL="203200" indent="-203200">
              <a:spcAft>
                <a:spcPts val="900"/>
              </a:spcAft>
              <a:buSzPct val="100000"/>
              <a:buChar char="•"/>
            </a:pPr>
            <a:r>
              <a:rPr lang="en-US" sz="1700" dirty="0">
                <a:solidFill>
                  <a:schemeClr val="tx1"/>
                </a:solidFill>
              </a:rPr>
              <a:t>Functions</a:t>
            </a:r>
            <a:endParaRPr lang="en-US" sz="1700" dirty="0"/>
          </a:p>
          <a:p>
            <a:pPr marL="203200" indent="-203200">
              <a:spcAft>
                <a:spcPts val="900"/>
              </a:spcAft>
              <a:buSzPct val="100000"/>
              <a:buChar char="•"/>
            </a:pPr>
            <a:r>
              <a:rPr lang="en-US" sz="1700" dirty="0">
                <a:solidFill>
                  <a:schemeClr val="tx1"/>
                </a:solidFill>
              </a:rPr>
              <a:t>File handling and modules</a:t>
            </a:r>
            <a:endParaRPr lang="en-US" sz="1700" dirty="0"/>
          </a:p>
        </p:txBody>
      </p:sp>
      <p:sp>
        <p:nvSpPr>
          <p:cNvPr id="8" name="Phase header 2"/>
          <p:cNvSpPr/>
          <p:nvPr/>
        </p:nvSpPr>
        <p:spPr>
          <a:xfrm>
            <a:off x="4311396" y="1463040"/>
            <a:ext cx="3566160" cy="914400"/>
          </a:xfrm>
          <a:prstGeom prst="roundRect">
            <a:avLst>
              <a:gd name="adj" fmla="val 8000"/>
            </a:avLst>
          </a:prstGeom>
          <a:solidFill>
            <a:schemeClr val="tx2"/>
          </a:solidFill>
          <a:ln w="12700">
            <a:solidFill>
              <a:schemeClr val="tx2"/>
            </a:solidFill>
            <a:prstDash val="solid"/>
          </a:ln>
        </p:spPr>
      </p:sp>
      <p:sp>
        <p:nvSpPr>
          <p:cNvPr id="9" name="Text 7"/>
          <p:cNvSpPr txBox="1"/>
          <p:nvPr/>
        </p:nvSpPr>
        <p:spPr>
          <a:xfrm>
            <a:off x="4585716" y="1600200"/>
            <a:ext cx="3017520" cy="36576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Days 11-20</a:t>
            </a:r>
            <a:endParaRPr lang="en-US" sz="2200" dirty="0"/>
          </a:p>
        </p:txBody>
      </p:sp>
      <p:sp>
        <p:nvSpPr>
          <p:cNvPr id="10" name="Text 8"/>
          <p:cNvSpPr txBox="1"/>
          <p:nvPr/>
        </p:nvSpPr>
        <p:spPr>
          <a:xfrm>
            <a:off x="4585716" y="2011680"/>
            <a:ext cx="3017520" cy="274320"/>
          </a:xfrm>
          <a:prstGeom prst="rect">
            <a:avLst/>
          </a:prstGeom>
          <a:noFill/>
          <a:ln/>
        </p:spPr>
        <p:txBody>
          <a:bodyPr wrap="square" lIns="0" tIns="0" rIns="0" bIns="0" rtlCol="0" anchor="t"/>
          <a:lstStyle/>
          <a:p>
            <a:pPr indent="0" marL="0">
              <a:buNone/>
            </a:pPr>
            <a:r>
              <a:rPr lang="en-US" sz="1500" dirty="0">
                <a:solidFill>
                  <a:schemeClr val="bg1"/>
                </a:solidFill>
              </a:rPr>
              <a:t>Intermediate Python</a:t>
            </a:r>
            <a:endParaRPr lang="en-US" sz="1500" dirty="0"/>
          </a:p>
        </p:txBody>
      </p:sp>
      <p:sp>
        <p:nvSpPr>
          <p:cNvPr id="11" name="Phase body 2"/>
          <p:cNvSpPr/>
          <p:nvPr/>
        </p:nvSpPr>
        <p:spPr>
          <a:xfrm>
            <a:off x="4311396" y="2468880"/>
            <a:ext cx="3566160" cy="3017520"/>
          </a:xfrm>
          <a:prstGeom prst="roundRect">
            <a:avLst>
              <a:gd name="adj" fmla="val 2424"/>
            </a:avLst>
          </a:prstGeom>
          <a:solidFill>
            <a:schemeClr val="bg2"/>
          </a:solidFill>
          <a:ln w="12700">
            <a:solidFill>
              <a:schemeClr val="bg2"/>
            </a:solidFill>
            <a:prstDash val="solid"/>
          </a:ln>
        </p:spPr>
      </p:sp>
      <p:sp>
        <p:nvSpPr>
          <p:cNvPr id="12" name="Text 10"/>
          <p:cNvSpPr txBox="1"/>
          <p:nvPr/>
        </p:nvSpPr>
        <p:spPr>
          <a:xfrm>
            <a:off x="4585716" y="2697480"/>
            <a:ext cx="3108960" cy="265176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chemeClr val="tx1"/>
                </a:solidFill>
              </a:rPr>
              <a:t>Exception handling</a:t>
            </a:r>
            <a:endParaRPr lang="en-US" sz="1700" dirty="0"/>
          </a:p>
          <a:p>
            <a:pPr marL="203200" indent="-203200">
              <a:spcAft>
                <a:spcPts val="900"/>
              </a:spcAft>
              <a:buSzPct val="100000"/>
              <a:buChar char="•"/>
            </a:pPr>
            <a:r>
              <a:rPr lang="en-US" sz="1700" dirty="0">
                <a:solidFill>
                  <a:schemeClr val="tx1"/>
                </a:solidFill>
              </a:rPr>
              <a:t>Object-oriented programming</a:t>
            </a:r>
            <a:endParaRPr lang="en-US" sz="1700" dirty="0"/>
          </a:p>
          <a:p>
            <a:pPr marL="203200" indent="-203200">
              <a:spcAft>
                <a:spcPts val="900"/>
              </a:spcAft>
              <a:buSzPct val="100000"/>
              <a:buChar char="•"/>
            </a:pPr>
            <a:r>
              <a:rPr lang="en-US" sz="1700" dirty="0">
                <a:solidFill>
                  <a:schemeClr val="tx1"/>
                </a:solidFill>
              </a:rPr>
              <a:t>Packages and pip libraries</a:t>
            </a:r>
            <a:endParaRPr lang="en-US" sz="1700" dirty="0"/>
          </a:p>
          <a:p>
            <a:pPr marL="203200" indent="-203200">
              <a:spcAft>
                <a:spcPts val="900"/>
              </a:spcAft>
              <a:buSzPct val="100000"/>
              <a:buChar char="•"/>
            </a:pPr>
            <a:r>
              <a:rPr lang="en-US" sz="1700" dirty="0">
                <a:solidFill>
                  <a:schemeClr val="tx1"/>
                </a:solidFill>
              </a:rPr>
              <a:t>CSV and JSON files</a:t>
            </a:r>
            <a:endParaRPr lang="en-US" sz="1700" dirty="0"/>
          </a:p>
          <a:p>
            <a:pPr marL="203200" indent="-203200">
              <a:spcAft>
                <a:spcPts val="900"/>
              </a:spcAft>
              <a:buSzPct val="100000"/>
              <a:buChar char="•"/>
            </a:pPr>
            <a:r>
              <a:rPr lang="en-US" sz="1700" dirty="0">
                <a:solidFill>
                  <a:schemeClr val="tx1"/>
                </a:solidFill>
              </a:rPr>
              <a:t>NumPy and Pandas</a:t>
            </a:r>
            <a:endParaRPr lang="en-US" sz="1700" dirty="0"/>
          </a:p>
          <a:p>
            <a:pPr marL="203200" indent="-203200">
              <a:spcAft>
                <a:spcPts val="900"/>
              </a:spcAft>
              <a:buSzPct val="100000"/>
              <a:buChar char="•"/>
            </a:pPr>
            <a:r>
              <a:rPr lang="en-US" sz="1700" dirty="0">
                <a:solidFill>
                  <a:schemeClr val="tx1"/>
                </a:solidFill>
              </a:rPr>
              <a:t>Dates, times and regular expressions</a:t>
            </a:r>
            <a:endParaRPr lang="en-US" sz="1700" dirty="0"/>
          </a:p>
        </p:txBody>
      </p:sp>
      <p:sp>
        <p:nvSpPr>
          <p:cNvPr id="13" name="Phase header 3"/>
          <p:cNvSpPr/>
          <p:nvPr/>
        </p:nvSpPr>
        <p:spPr>
          <a:xfrm>
            <a:off x="8074152" y="1463040"/>
            <a:ext cx="3566160" cy="914400"/>
          </a:xfrm>
          <a:prstGeom prst="roundRect">
            <a:avLst>
              <a:gd name="adj" fmla="val 8000"/>
            </a:avLst>
          </a:prstGeom>
          <a:solidFill>
            <a:schemeClr val="accent4"/>
          </a:solidFill>
          <a:ln w="12700">
            <a:solidFill>
              <a:schemeClr val="accent4"/>
            </a:solidFill>
            <a:prstDash val="solid"/>
          </a:ln>
        </p:spPr>
      </p:sp>
      <p:sp>
        <p:nvSpPr>
          <p:cNvPr id="14" name="Text 12"/>
          <p:cNvSpPr txBox="1"/>
          <p:nvPr/>
        </p:nvSpPr>
        <p:spPr>
          <a:xfrm>
            <a:off x="8348472" y="1600200"/>
            <a:ext cx="3017520" cy="36576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Days 21-30</a:t>
            </a:r>
            <a:endParaRPr lang="en-US" sz="2200" dirty="0"/>
          </a:p>
        </p:txBody>
      </p:sp>
      <p:sp>
        <p:nvSpPr>
          <p:cNvPr id="15" name="Text 13"/>
          <p:cNvSpPr txBox="1"/>
          <p:nvPr/>
        </p:nvSpPr>
        <p:spPr>
          <a:xfrm>
            <a:off x="8348472" y="2011680"/>
            <a:ext cx="3017520" cy="274320"/>
          </a:xfrm>
          <a:prstGeom prst="rect">
            <a:avLst/>
          </a:prstGeom>
          <a:noFill/>
          <a:ln/>
        </p:spPr>
        <p:txBody>
          <a:bodyPr wrap="square" lIns="0" tIns="0" rIns="0" bIns="0" rtlCol="0" anchor="t"/>
          <a:lstStyle/>
          <a:p>
            <a:pPr indent="0" marL="0">
              <a:buNone/>
            </a:pPr>
            <a:r>
              <a:rPr lang="en-US" sz="1500" dirty="0">
                <a:solidFill>
                  <a:schemeClr val="bg1"/>
                </a:solidFill>
              </a:rPr>
              <a:t>Applied development</a:t>
            </a:r>
            <a:endParaRPr lang="en-US" sz="1500" dirty="0"/>
          </a:p>
        </p:txBody>
      </p:sp>
      <p:sp>
        <p:nvSpPr>
          <p:cNvPr id="16" name="Phase body 3"/>
          <p:cNvSpPr/>
          <p:nvPr/>
        </p:nvSpPr>
        <p:spPr>
          <a:xfrm>
            <a:off x="8074152" y="2468880"/>
            <a:ext cx="3566160" cy="3017520"/>
          </a:xfrm>
          <a:prstGeom prst="roundRect">
            <a:avLst>
              <a:gd name="adj" fmla="val 2424"/>
            </a:avLst>
          </a:prstGeom>
          <a:solidFill>
            <a:schemeClr val="bg2"/>
          </a:solidFill>
          <a:ln w="12700">
            <a:solidFill>
              <a:schemeClr val="bg2"/>
            </a:solidFill>
            <a:prstDash val="solid"/>
          </a:ln>
        </p:spPr>
      </p:sp>
      <p:sp>
        <p:nvSpPr>
          <p:cNvPr id="17" name="Text 15"/>
          <p:cNvSpPr txBox="1"/>
          <p:nvPr/>
        </p:nvSpPr>
        <p:spPr>
          <a:xfrm>
            <a:off x="8348472" y="2697480"/>
            <a:ext cx="3108960" cy="265176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chemeClr val="tx1"/>
                </a:solidFill>
              </a:rPr>
              <a:t>SQLite and CRUD operations</a:t>
            </a:r>
            <a:endParaRPr lang="en-US" sz="1700" dirty="0"/>
          </a:p>
          <a:p>
            <a:pPr marL="203200" indent="-203200">
              <a:spcAft>
                <a:spcPts val="900"/>
              </a:spcAft>
              <a:buSzPct val="100000"/>
              <a:buChar char="•"/>
            </a:pPr>
            <a:r>
              <a:rPr lang="en-US" sz="1700" dirty="0">
                <a:solidFill>
                  <a:schemeClr val="tx1"/>
                </a:solidFill>
              </a:rPr>
              <a:t>APIs and web scraping</a:t>
            </a:r>
            <a:endParaRPr lang="en-US" sz="1700" dirty="0"/>
          </a:p>
          <a:p>
            <a:pPr marL="203200" indent="-203200">
              <a:spcAft>
                <a:spcPts val="900"/>
              </a:spcAft>
              <a:buSzPct val="100000"/>
              <a:buChar char="•"/>
            </a:pPr>
            <a:r>
              <a:rPr lang="en-US" sz="1700" dirty="0">
                <a:solidFill>
                  <a:schemeClr val="tx1"/>
                </a:solidFill>
              </a:rPr>
              <a:t>Matplotlib and Seaborn</a:t>
            </a:r>
            <a:endParaRPr lang="en-US" sz="1700" dirty="0"/>
          </a:p>
          <a:p>
            <a:pPr marL="203200" indent="-203200">
              <a:spcAft>
                <a:spcPts val="900"/>
              </a:spcAft>
              <a:buSzPct val="100000"/>
              <a:buChar char="•"/>
            </a:pPr>
            <a:r>
              <a:rPr lang="en-US" sz="1700" dirty="0">
                <a:solidFill>
                  <a:schemeClr val="tx1"/>
                </a:solidFill>
              </a:rPr>
              <a:t>Virtual environments</a:t>
            </a:r>
            <a:endParaRPr lang="en-US" sz="1700" dirty="0"/>
          </a:p>
          <a:p>
            <a:pPr marL="203200" indent="-203200">
              <a:spcAft>
                <a:spcPts val="900"/>
              </a:spcAft>
              <a:buSzPct val="100000"/>
              <a:buChar char="•"/>
            </a:pPr>
            <a:r>
              <a:rPr lang="en-US" sz="1700" dirty="0">
                <a:solidFill>
                  <a:schemeClr val="tx1"/>
                </a:solidFill>
              </a:rPr>
              <a:t>Generators, decorators, async</a:t>
            </a:r>
            <a:endParaRPr lang="en-US" sz="1700" dirty="0"/>
          </a:p>
          <a:p>
            <a:pPr marL="203200" indent="-203200">
              <a:spcAft>
                <a:spcPts val="900"/>
              </a:spcAft>
              <a:buSzPct val="100000"/>
              <a:buChar char="•"/>
            </a:pPr>
            <a:r>
              <a:rPr lang="en-US" sz="1700" dirty="0">
                <a:solidFill>
                  <a:schemeClr val="tx1"/>
                </a:solidFill>
              </a:rPr>
              <a:t>Flask / Django and unit testing</a:t>
            </a:r>
            <a:endParaRPr lang="en-US" sz="1700" dirty="0"/>
          </a:p>
        </p:txBody>
      </p:sp>
      <p:sp>
        <p:nvSpPr>
          <p:cNvPr id="18" name="Outcome bar"/>
          <p:cNvSpPr/>
          <p:nvPr/>
        </p:nvSpPr>
        <p:spPr>
          <a:xfrm>
            <a:off x="548640" y="5669280"/>
            <a:ext cx="11091672" cy="502920"/>
          </a:xfrm>
          <a:prstGeom prst="roundRect">
            <a:avLst>
              <a:gd name="adj" fmla="val 14545"/>
            </a:avLst>
          </a:prstGeom>
          <a:solidFill>
            <a:schemeClr val="accent1"/>
          </a:solidFill>
          <a:ln w="12700">
            <a:solidFill>
              <a:schemeClr val="accent1"/>
            </a:solidFill>
            <a:prstDash val="solid"/>
          </a:ln>
        </p:spPr>
      </p:sp>
      <p:sp>
        <p:nvSpPr>
          <p:cNvPr id="19" name="Text 17"/>
          <p:cNvSpPr txBox="1"/>
          <p:nvPr/>
        </p:nvSpPr>
        <p:spPr>
          <a:xfrm>
            <a:off x="822960" y="5669280"/>
            <a:ext cx="10607040" cy="502920"/>
          </a:xfrm>
          <a:prstGeom prst="rect">
            <a:avLst/>
          </a:prstGeom>
          <a:noFill/>
          <a:ln/>
        </p:spPr>
        <p:txBody>
          <a:bodyPr wrap="square" lIns="0" tIns="0" rIns="0" bIns="0" rtlCol="0" anchor="ctr"/>
          <a:lstStyle/>
          <a:p>
            <a:pPr indent="0" marL="0">
              <a:buNone/>
            </a:pPr>
            <a:r>
              <a:rPr lang="en-US" sz="1600" b="1" dirty="0">
                <a:solidFill>
                  <a:schemeClr val="bg1"/>
                </a:solidFill>
              </a:rPr>
              <a:t>Outcome: these skills were applied to design and build the Student Feedback System.</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Existing Feedback Methods vs Proposed System</a:t>
            </a:r>
            <a:endParaRPr lang="en-US" sz="3000" dirty="0"/>
          </a:p>
        </p:txBody>
      </p:sp>
      <p:sp>
        <p:nvSpPr>
          <p:cNvPr id="3" name="Text 1"/>
          <p:cNvSpPr txBox="1"/>
          <p:nvPr/>
        </p:nvSpPr>
        <p:spPr>
          <a:xfrm>
            <a:off x="777240" y="1481328"/>
            <a:ext cx="210312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APPROACH</a:t>
            </a:r>
            <a:endParaRPr lang="en-US" sz="1300" dirty="0"/>
          </a:p>
        </p:txBody>
      </p:sp>
      <p:sp>
        <p:nvSpPr>
          <p:cNvPr id="4" name="Text 2"/>
          <p:cNvSpPr txBox="1"/>
          <p:nvPr/>
        </p:nvSpPr>
        <p:spPr>
          <a:xfrm>
            <a:off x="3246120" y="1481328"/>
            <a:ext cx="36576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STRENGTHS</a:t>
            </a:r>
            <a:endParaRPr lang="en-US" sz="1300" dirty="0"/>
          </a:p>
        </p:txBody>
      </p:sp>
      <p:sp>
        <p:nvSpPr>
          <p:cNvPr id="5" name="Text 3"/>
          <p:cNvSpPr txBox="1"/>
          <p:nvPr/>
        </p:nvSpPr>
        <p:spPr>
          <a:xfrm>
            <a:off x="7269480" y="1481328"/>
            <a:ext cx="4325112"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LIMITATIONS</a:t>
            </a:r>
            <a:endParaRPr lang="en-US" sz="1300" dirty="0"/>
          </a:p>
        </p:txBody>
      </p:sp>
      <p:sp>
        <p:nvSpPr>
          <p:cNvPr id="6" name="Row 1"/>
          <p:cNvSpPr/>
          <p:nvPr/>
        </p:nvSpPr>
        <p:spPr>
          <a:xfrm>
            <a:off x="548640" y="1920240"/>
            <a:ext cx="11091672" cy="914400"/>
          </a:xfrm>
          <a:prstGeom prst="roundRect">
            <a:avLst>
              <a:gd name="adj" fmla="val 8000"/>
            </a:avLst>
          </a:prstGeom>
          <a:solidFill>
            <a:schemeClr val="bg2"/>
          </a:solidFill>
          <a:ln w="12700">
            <a:solidFill>
              <a:schemeClr val="bg2"/>
            </a:solidFill>
            <a:prstDash val="solid"/>
          </a:ln>
        </p:spPr>
      </p:sp>
      <p:sp>
        <p:nvSpPr>
          <p:cNvPr id="7" name="Text 5"/>
          <p:cNvSpPr txBox="1"/>
          <p:nvPr/>
        </p:nvSpPr>
        <p:spPr>
          <a:xfrm>
            <a:off x="777240" y="1920240"/>
            <a:ext cx="2011680" cy="9144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Paper forms</a:t>
            </a:r>
            <a:endParaRPr lang="en-US" sz="1700" dirty="0"/>
          </a:p>
        </p:txBody>
      </p:sp>
      <p:sp>
        <p:nvSpPr>
          <p:cNvPr id="8" name="Text 6"/>
          <p:cNvSpPr txBox="1"/>
          <p:nvPr/>
        </p:nvSpPr>
        <p:spPr>
          <a:xfrm>
            <a:off x="3246120" y="1920240"/>
            <a:ext cx="3566160" cy="914400"/>
          </a:xfrm>
          <a:prstGeom prst="rect">
            <a:avLst/>
          </a:prstGeom>
          <a:noFill/>
          <a:ln/>
        </p:spPr>
        <p:txBody>
          <a:bodyPr wrap="square" lIns="0" tIns="0" rIns="0" bIns="0" rtlCol="0" anchor="ctr"/>
          <a:lstStyle/>
          <a:p>
            <a:pPr indent="0" marL="0">
              <a:buNone/>
            </a:pPr>
            <a:r>
              <a:rPr lang="en-US" sz="1600" dirty="0">
                <a:solidFill>
                  <a:schemeClr val="tx1"/>
                </a:solidFill>
              </a:rPr>
              <a:t>Simple, familiar, works offline</a:t>
            </a:r>
            <a:endParaRPr lang="en-US" sz="1600" dirty="0"/>
          </a:p>
        </p:txBody>
      </p:sp>
      <p:sp>
        <p:nvSpPr>
          <p:cNvPr id="9" name="Text 7"/>
          <p:cNvSpPr txBox="1"/>
          <p:nvPr/>
        </p:nvSpPr>
        <p:spPr>
          <a:xfrm>
            <a:off x="7269480" y="1920240"/>
            <a:ext cx="4233672" cy="914400"/>
          </a:xfrm>
          <a:prstGeom prst="rect">
            <a:avLst/>
          </a:prstGeom>
          <a:noFill/>
          <a:ln/>
        </p:spPr>
        <p:txBody>
          <a:bodyPr wrap="square" lIns="0" tIns="0" rIns="0" bIns="0" rtlCol="0" anchor="ctr"/>
          <a:lstStyle/>
          <a:p>
            <a:pPr indent="0" marL="0">
              <a:buNone/>
            </a:pPr>
            <a:r>
              <a:rPr lang="en-US" sz="1600" dirty="0">
                <a:solidFill>
                  <a:schemeClr val="tx1"/>
                </a:solidFill>
              </a:rPr>
              <a:t>Manual entry, physical storage, slow analysis</a:t>
            </a:r>
            <a:endParaRPr lang="en-US" sz="1600" dirty="0"/>
          </a:p>
        </p:txBody>
      </p:sp>
      <p:sp>
        <p:nvSpPr>
          <p:cNvPr id="10" name="Row 2"/>
          <p:cNvSpPr/>
          <p:nvPr/>
        </p:nvSpPr>
        <p:spPr>
          <a:xfrm>
            <a:off x="548640" y="2944368"/>
            <a:ext cx="11091672" cy="9144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777240" y="2944368"/>
            <a:ext cx="2011680" cy="9144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Spreadsheets</a:t>
            </a:r>
            <a:endParaRPr lang="en-US" sz="1700" dirty="0"/>
          </a:p>
        </p:txBody>
      </p:sp>
      <p:sp>
        <p:nvSpPr>
          <p:cNvPr id="12" name="Text 10"/>
          <p:cNvSpPr txBox="1"/>
          <p:nvPr/>
        </p:nvSpPr>
        <p:spPr>
          <a:xfrm>
            <a:off x="3246120" y="2944368"/>
            <a:ext cx="3566160" cy="914400"/>
          </a:xfrm>
          <a:prstGeom prst="rect">
            <a:avLst/>
          </a:prstGeom>
          <a:noFill/>
          <a:ln/>
        </p:spPr>
        <p:txBody>
          <a:bodyPr wrap="square" lIns="0" tIns="0" rIns="0" bIns="0" rtlCol="0" anchor="ctr"/>
          <a:lstStyle/>
          <a:p>
            <a:pPr indent="0" marL="0">
              <a:buNone/>
            </a:pPr>
            <a:r>
              <a:rPr lang="en-US" sz="1600" dirty="0">
                <a:solidFill>
                  <a:schemeClr val="tx1"/>
                </a:solidFill>
              </a:rPr>
              <a:t>Easy calculations, sorting and filtering</a:t>
            </a:r>
            <a:endParaRPr lang="en-US" sz="1600" dirty="0"/>
          </a:p>
        </p:txBody>
      </p:sp>
      <p:sp>
        <p:nvSpPr>
          <p:cNvPr id="13" name="Text 11"/>
          <p:cNvSpPr txBox="1"/>
          <p:nvPr/>
        </p:nvSpPr>
        <p:spPr>
          <a:xfrm>
            <a:off x="7269480" y="2944368"/>
            <a:ext cx="4233672" cy="914400"/>
          </a:xfrm>
          <a:prstGeom prst="rect">
            <a:avLst/>
          </a:prstGeom>
          <a:noFill/>
          <a:ln/>
        </p:spPr>
        <p:txBody>
          <a:bodyPr wrap="square" lIns="0" tIns="0" rIns="0" bIns="0" rtlCol="0" anchor="ctr"/>
          <a:lstStyle/>
          <a:p>
            <a:pPr indent="0" marL="0">
              <a:buNone/>
            </a:pPr>
            <a:r>
              <a:rPr lang="en-US" sz="1600" dirty="0">
                <a:solidFill>
                  <a:schemeClr val="tx1"/>
                </a:solidFill>
              </a:rPr>
              <a:t>Duplicates, version-control issues, manual processing</a:t>
            </a:r>
            <a:endParaRPr lang="en-US" sz="1600" dirty="0"/>
          </a:p>
        </p:txBody>
      </p:sp>
      <p:sp>
        <p:nvSpPr>
          <p:cNvPr id="14" name="Row 3"/>
          <p:cNvSpPr/>
          <p:nvPr/>
        </p:nvSpPr>
        <p:spPr>
          <a:xfrm>
            <a:off x="548640" y="3968496"/>
            <a:ext cx="11091672" cy="914400"/>
          </a:xfrm>
          <a:prstGeom prst="roundRect">
            <a:avLst>
              <a:gd name="adj" fmla="val 8000"/>
            </a:avLst>
          </a:prstGeom>
          <a:solidFill>
            <a:schemeClr val="bg2"/>
          </a:solidFill>
          <a:ln w="12700">
            <a:solidFill>
              <a:schemeClr val="bg2"/>
            </a:solidFill>
            <a:prstDash val="solid"/>
          </a:ln>
        </p:spPr>
      </p:sp>
      <p:sp>
        <p:nvSpPr>
          <p:cNvPr id="15" name="Text 13"/>
          <p:cNvSpPr txBox="1"/>
          <p:nvPr/>
        </p:nvSpPr>
        <p:spPr>
          <a:xfrm>
            <a:off x="777240" y="3968496"/>
            <a:ext cx="2011680" cy="91440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Generic online forms</a:t>
            </a:r>
            <a:endParaRPr lang="en-US" sz="1700" dirty="0"/>
          </a:p>
        </p:txBody>
      </p:sp>
      <p:sp>
        <p:nvSpPr>
          <p:cNvPr id="16" name="Text 14"/>
          <p:cNvSpPr txBox="1"/>
          <p:nvPr/>
        </p:nvSpPr>
        <p:spPr>
          <a:xfrm>
            <a:off x="3246120" y="3968496"/>
            <a:ext cx="3566160" cy="914400"/>
          </a:xfrm>
          <a:prstGeom prst="rect">
            <a:avLst/>
          </a:prstGeom>
          <a:noFill/>
          <a:ln/>
        </p:spPr>
        <p:txBody>
          <a:bodyPr wrap="square" lIns="0" tIns="0" rIns="0" bIns="0" rtlCol="0" anchor="ctr"/>
          <a:lstStyle/>
          <a:p>
            <a:pPr indent="0" marL="0">
              <a:buNone/>
            </a:pPr>
            <a:r>
              <a:rPr lang="en-US" sz="1600" dirty="0">
                <a:solidFill>
                  <a:schemeClr val="tx1"/>
                </a:solidFill>
              </a:rPr>
              <a:t>Quick to collect and distribute</a:t>
            </a:r>
            <a:endParaRPr lang="en-US" sz="1600" dirty="0"/>
          </a:p>
        </p:txBody>
      </p:sp>
      <p:sp>
        <p:nvSpPr>
          <p:cNvPr id="17" name="Text 15"/>
          <p:cNvSpPr txBox="1"/>
          <p:nvPr/>
        </p:nvSpPr>
        <p:spPr>
          <a:xfrm>
            <a:off x="7269480" y="3968496"/>
            <a:ext cx="4233672" cy="914400"/>
          </a:xfrm>
          <a:prstGeom prst="rect">
            <a:avLst/>
          </a:prstGeom>
          <a:noFill/>
          <a:ln/>
        </p:spPr>
        <p:txBody>
          <a:bodyPr wrap="square" lIns="0" tIns="0" rIns="0" bIns="0" rtlCol="0" anchor="ctr"/>
          <a:lstStyle/>
          <a:p>
            <a:pPr indent="0" marL="0">
              <a:buNone/>
            </a:pPr>
            <a:r>
              <a:rPr lang="en-US" sz="1600" dirty="0">
                <a:solidFill>
                  <a:schemeClr val="tx1"/>
                </a:solidFill>
              </a:rPr>
              <a:t>Limited customisation and academic-specific analysis</a:t>
            </a:r>
            <a:endParaRPr lang="en-US" sz="1600" dirty="0"/>
          </a:p>
        </p:txBody>
      </p:sp>
      <p:sp>
        <p:nvSpPr>
          <p:cNvPr id="18" name="Row 4"/>
          <p:cNvSpPr/>
          <p:nvPr/>
        </p:nvSpPr>
        <p:spPr>
          <a:xfrm>
            <a:off x="548640" y="4992624"/>
            <a:ext cx="11091672" cy="914400"/>
          </a:xfrm>
          <a:prstGeom prst="roundRect">
            <a:avLst>
              <a:gd name="adj" fmla="val 8000"/>
            </a:avLst>
          </a:prstGeom>
          <a:solidFill>
            <a:schemeClr val="tx2"/>
          </a:solidFill>
          <a:ln w="12700">
            <a:solidFill>
              <a:schemeClr val="tx2"/>
            </a:solidFill>
            <a:prstDash val="solid"/>
          </a:ln>
        </p:spPr>
      </p:sp>
      <p:sp>
        <p:nvSpPr>
          <p:cNvPr id="19" name="Text 17"/>
          <p:cNvSpPr txBox="1"/>
          <p:nvPr/>
        </p:nvSpPr>
        <p:spPr>
          <a:xfrm>
            <a:off x="777240" y="4992624"/>
            <a:ext cx="2011680" cy="914400"/>
          </a:xfrm>
          <a:prstGeom prst="rect">
            <a:avLst/>
          </a:prstGeom>
          <a:noFill/>
          <a:ln/>
        </p:spPr>
        <p:txBody>
          <a:bodyPr wrap="square" lIns="0" tIns="0" rIns="0" bIns="0" rtlCol="0" anchor="ctr"/>
          <a:lstStyle/>
          <a:p>
            <a:pPr indent="0" marL="0">
              <a:buNone/>
            </a:pPr>
            <a:r>
              <a:rPr lang="en-US" sz="1700" b="1" dirty="0">
                <a:solidFill>
                  <a:schemeClr val="bg1"/>
                </a:solidFill>
                <a:latin typeface="+mj-lt" pitchFamily="34" charset="0"/>
                <a:ea typeface="+mj-lt" pitchFamily="34" charset="-122"/>
                <a:cs typeface="+mj-lt" pitchFamily="34" charset="-120"/>
              </a:rPr>
              <a:t>Proposed Python system</a:t>
            </a:r>
            <a:endParaRPr lang="en-US" sz="1700" dirty="0"/>
          </a:p>
        </p:txBody>
      </p:sp>
      <p:sp>
        <p:nvSpPr>
          <p:cNvPr id="20" name="Text 18"/>
          <p:cNvSpPr txBox="1"/>
          <p:nvPr/>
        </p:nvSpPr>
        <p:spPr>
          <a:xfrm>
            <a:off x="3246120" y="4992624"/>
            <a:ext cx="3566160" cy="914400"/>
          </a:xfrm>
          <a:prstGeom prst="rect">
            <a:avLst/>
          </a:prstGeom>
          <a:noFill/>
          <a:ln/>
        </p:spPr>
        <p:txBody>
          <a:bodyPr wrap="square" lIns="0" tIns="0" rIns="0" bIns="0" rtlCol="0" anchor="ctr"/>
          <a:lstStyle/>
          <a:p>
            <a:pPr indent="0" marL="0">
              <a:buNone/>
            </a:pPr>
            <a:r>
              <a:rPr lang="en-US" sz="1600" dirty="0">
                <a:solidFill>
                  <a:schemeClr val="bg1"/>
                </a:solidFill>
              </a:rPr>
              <a:t>Automated validation, analysis and reporting</a:t>
            </a:r>
            <a:endParaRPr lang="en-US" sz="1600" dirty="0"/>
          </a:p>
        </p:txBody>
      </p:sp>
      <p:sp>
        <p:nvSpPr>
          <p:cNvPr id="21" name="Text 19"/>
          <p:cNvSpPr txBox="1"/>
          <p:nvPr/>
        </p:nvSpPr>
        <p:spPr>
          <a:xfrm>
            <a:off x="7269480" y="4992624"/>
            <a:ext cx="4233672" cy="914400"/>
          </a:xfrm>
          <a:prstGeom prst="rect">
            <a:avLst/>
          </a:prstGeom>
          <a:noFill/>
          <a:ln/>
        </p:spPr>
        <p:txBody>
          <a:bodyPr wrap="square" lIns="0" tIns="0" rIns="0" bIns="0" rtlCol="0" anchor="ctr"/>
          <a:lstStyle/>
          <a:p>
            <a:pPr indent="0" marL="0">
              <a:buNone/>
            </a:pPr>
            <a:r>
              <a:rPr lang="en-US" sz="1600" dirty="0">
                <a:solidFill>
                  <a:schemeClr val="bg1"/>
                </a:solidFill>
              </a:rPr>
              <a:t>Needs software development and maintenance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Problem and Proposed Solution</a:t>
            </a:r>
            <a:endParaRPr lang="en-US" sz="3000" dirty="0"/>
          </a:p>
        </p:txBody>
      </p:sp>
      <p:sp>
        <p:nvSpPr>
          <p:cNvPr id="3" name="Problem card"/>
          <p:cNvSpPr/>
          <p:nvPr/>
        </p:nvSpPr>
        <p:spPr>
          <a:xfrm>
            <a:off x="548640" y="1463040"/>
            <a:ext cx="5440680" cy="3977640"/>
          </a:xfrm>
          <a:prstGeom prst="roundRect">
            <a:avLst>
              <a:gd name="adj" fmla="val 1839"/>
            </a:avLst>
          </a:prstGeom>
          <a:solidFill>
            <a:schemeClr val="bg2"/>
          </a:solidFill>
          <a:ln w="12700">
            <a:solidFill>
              <a:schemeClr val="bg2"/>
            </a:solidFill>
            <a:prstDash val="solid"/>
          </a:ln>
        </p:spPr>
      </p:sp>
      <p:sp>
        <p:nvSpPr>
          <p:cNvPr id="4" name="Text 2"/>
          <p:cNvSpPr txBox="1"/>
          <p:nvPr/>
        </p:nvSpPr>
        <p:spPr>
          <a:xfrm>
            <a:off x="868680" y="1691640"/>
            <a:ext cx="4754880" cy="411480"/>
          </a:xfrm>
          <a:prstGeom prst="rect">
            <a:avLst/>
          </a:prstGeom>
          <a:noFill/>
          <a:ln/>
        </p:spPr>
        <p:txBody>
          <a:bodyPr wrap="square" lIns="0" tIns="0" rIns="0" bIns="0" rtlCol="0" anchor="t"/>
          <a:lstStyle/>
          <a:p>
            <a:pPr indent="0" marL="0">
              <a:buNone/>
            </a:pPr>
            <a:r>
              <a:rPr lang="en-US" sz="2200" b="1" dirty="0">
                <a:solidFill>
                  <a:schemeClr val="accent3"/>
                </a:solidFill>
                <a:latin typeface="+mj-lt" pitchFamily="34" charset="0"/>
                <a:ea typeface="+mj-lt" pitchFamily="34" charset="-122"/>
                <a:cs typeface="+mj-lt" pitchFamily="34" charset="-120"/>
              </a:rPr>
              <a:t>The problem</a:t>
            </a:r>
            <a:endParaRPr lang="en-US" sz="2200" dirty="0"/>
          </a:p>
        </p:txBody>
      </p:sp>
      <p:sp>
        <p:nvSpPr>
          <p:cNvPr id="5" name="Text 3"/>
          <p:cNvSpPr txBox="1"/>
          <p:nvPr/>
        </p:nvSpPr>
        <p:spPr>
          <a:xfrm>
            <a:off x="868680" y="2286000"/>
            <a:ext cx="4800600" cy="3017520"/>
          </a:xfrm>
          <a:prstGeom prst="rect">
            <a:avLst/>
          </a:prstGeom>
          <a:noFill/>
          <a:ln/>
        </p:spPr>
        <p:txBody>
          <a:bodyPr wrap="square" lIns="0" tIns="0" rIns="0" bIns="0" rtlCol="0" anchor="t"/>
          <a:lstStyle/>
          <a:p>
            <a:pPr marL="203200" indent="-203200">
              <a:spcAft>
                <a:spcPts val="1200"/>
              </a:spcAft>
              <a:buSzPct val="100000"/>
              <a:buChar char="•"/>
            </a:pPr>
            <a:r>
              <a:rPr lang="en-US" sz="2000" dirty="0">
                <a:solidFill>
                  <a:schemeClr val="tx1"/>
                </a:solidFill>
              </a:rPr>
              <a:t>Manual data entry increases staff workload</a:t>
            </a:r>
            <a:endParaRPr lang="en-US" sz="2000" dirty="0"/>
          </a:p>
          <a:p>
            <a:pPr marL="203200" indent="-203200">
              <a:spcAft>
                <a:spcPts val="1200"/>
              </a:spcAft>
              <a:buSzPct val="100000"/>
              <a:buChar char="•"/>
            </a:pPr>
            <a:r>
              <a:rPr lang="en-US" sz="2000" dirty="0">
                <a:solidFill>
                  <a:schemeClr val="tx1"/>
                </a:solidFill>
              </a:rPr>
              <a:t>Duplicate or invalid entries reduce accuracy</a:t>
            </a:r>
            <a:endParaRPr lang="en-US" sz="2000" dirty="0"/>
          </a:p>
          <a:p>
            <a:pPr marL="203200" indent="-203200">
              <a:spcAft>
                <a:spcPts val="1200"/>
              </a:spcAft>
              <a:buSzPct val="100000"/>
              <a:buChar char="•"/>
            </a:pPr>
            <a:r>
              <a:rPr lang="en-US" sz="2000" dirty="0">
                <a:solidFill>
                  <a:schemeClr val="tx1"/>
                </a:solidFill>
              </a:rPr>
              <a:t>Feedback scores are calculated by hand</a:t>
            </a:r>
            <a:endParaRPr lang="en-US" sz="2000" dirty="0"/>
          </a:p>
          <a:p>
            <a:pPr marL="203200" indent="-203200">
              <a:spcAft>
                <a:spcPts val="1200"/>
              </a:spcAft>
              <a:buSzPct val="100000"/>
              <a:buChar char="•"/>
            </a:pPr>
            <a:r>
              <a:rPr lang="en-US" sz="2000" dirty="0">
                <a:solidFill>
                  <a:schemeClr val="tx1"/>
                </a:solidFill>
              </a:rPr>
              <a:t>Reports need extra processing and formatting</a:t>
            </a:r>
            <a:endParaRPr lang="en-US" sz="2000" dirty="0"/>
          </a:p>
          <a:p>
            <a:pPr marL="203200" indent="-203200">
              <a:spcAft>
                <a:spcPts val="1200"/>
              </a:spcAft>
              <a:buSzPct val="100000"/>
              <a:buChar char="•"/>
            </a:pPr>
            <a:r>
              <a:rPr lang="en-US" sz="2000" dirty="0">
                <a:solidFill>
                  <a:schemeClr val="tx1"/>
                </a:solidFill>
              </a:rPr>
              <a:t>Hard to organise by subject, faculty or class</a:t>
            </a:r>
            <a:endParaRPr lang="en-US" sz="2000" dirty="0"/>
          </a:p>
        </p:txBody>
      </p:sp>
      <p:sp>
        <p:nvSpPr>
          <p:cNvPr id="6" name="Solution card"/>
          <p:cNvSpPr/>
          <p:nvPr/>
        </p:nvSpPr>
        <p:spPr>
          <a:xfrm>
            <a:off x="6199632" y="1463040"/>
            <a:ext cx="5440680" cy="3977640"/>
          </a:xfrm>
          <a:prstGeom prst="roundRect">
            <a:avLst>
              <a:gd name="adj" fmla="val 1839"/>
            </a:avLst>
          </a:prstGeom>
          <a:solidFill>
            <a:schemeClr val="tx2"/>
          </a:solidFill>
          <a:ln w="12700">
            <a:solidFill>
              <a:schemeClr val="tx2"/>
            </a:solidFill>
            <a:prstDash val="solid"/>
          </a:ln>
        </p:spPr>
      </p:sp>
      <p:sp>
        <p:nvSpPr>
          <p:cNvPr id="7" name="Text 5"/>
          <p:cNvSpPr txBox="1"/>
          <p:nvPr/>
        </p:nvSpPr>
        <p:spPr>
          <a:xfrm>
            <a:off x="6519672" y="1691640"/>
            <a:ext cx="4754880" cy="411480"/>
          </a:xfrm>
          <a:prstGeom prst="rect">
            <a:avLst/>
          </a:prstGeom>
          <a:noFill/>
          <a:ln/>
        </p:spPr>
        <p:txBody>
          <a:bodyPr wrap="square" lIns="0" tIns="0" rIns="0" bIns="0" rtlCol="0" anchor="t"/>
          <a:lstStyle/>
          <a:p>
            <a:pPr indent="0" marL="0">
              <a:buNone/>
            </a:pPr>
            <a:r>
              <a:rPr lang="en-US" sz="2200" b="1" dirty="0">
                <a:solidFill>
                  <a:schemeClr val="accent2"/>
                </a:solidFill>
                <a:latin typeface="+mj-lt" pitchFamily="34" charset="0"/>
                <a:ea typeface="+mj-lt" pitchFamily="34" charset="-122"/>
                <a:cs typeface="+mj-lt" pitchFamily="34" charset="-120"/>
              </a:rPr>
              <a:t>The proposed system</a:t>
            </a:r>
            <a:endParaRPr lang="en-US" sz="2200" dirty="0"/>
          </a:p>
        </p:txBody>
      </p:sp>
      <p:sp>
        <p:nvSpPr>
          <p:cNvPr id="8" name="Text 6"/>
          <p:cNvSpPr txBox="1"/>
          <p:nvPr/>
        </p:nvSpPr>
        <p:spPr>
          <a:xfrm>
            <a:off x="6519672" y="2286000"/>
            <a:ext cx="4800600" cy="3017520"/>
          </a:xfrm>
          <a:prstGeom prst="rect">
            <a:avLst/>
          </a:prstGeom>
          <a:noFill/>
          <a:ln/>
        </p:spPr>
        <p:txBody>
          <a:bodyPr wrap="square" lIns="0" tIns="0" rIns="0" bIns="0" rtlCol="0" anchor="t"/>
          <a:lstStyle/>
          <a:p>
            <a:pPr marL="203200" indent="-203200">
              <a:spcAft>
                <a:spcPts val="1200"/>
              </a:spcAft>
              <a:buSzPct val="100000"/>
              <a:buChar char="•"/>
            </a:pPr>
            <a:r>
              <a:rPr lang="en-US" sz="2000" dirty="0">
                <a:solidFill>
                  <a:schemeClr val="bg1"/>
                </a:solidFill>
              </a:rPr>
              <a:t>Students rate courses and add comments in a simple GUI</a:t>
            </a:r>
            <a:endParaRPr lang="en-US" sz="2000" dirty="0"/>
          </a:p>
          <a:p>
            <a:pPr marL="203200" indent="-203200">
              <a:spcAft>
                <a:spcPts val="1200"/>
              </a:spcAft>
              <a:buSzPct val="100000"/>
              <a:buChar char="•"/>
            </a:pPr>
            <a:r>
              <a:rPr lang="en-US" sz="2000" dirty="0">
                <a:solidFill>
                  <a:schemeClr val="bg1"/>
                </a:solidFill>
              </a:rPr>
              <a:t>Validation and duplicate checking before saving</a:t>
            </a:r>
            <a:endParaRPr lang="en-US" sz="2000" dirty="0"/>
          </a:p>
          <a:p>
            <a:pPr marL="203200" indent="-203200">
              <a:spcAft>
                <a:spcPts val="1200"/>
              </a:spcAft>
              <a:buSzPct val="100000"/>
              <a:buChar char="•"/>
            </a:pPr>
            <a:r>
              <a:rPr lang="en-US" sz="2000" dirty="0">
                <a:solidFill>
                  <a:schemeClr val="bg1"/>
                </a:solidFill>
              </a:rPr>
              <a:t>Structured storage in SQLite</a:t>
            </a:r>
            <a:endParaRPr lang="en-US" sz="2000" dirty="0"/>
          </a:p>
          <a:p>
            <a:pPr marL="203200" indent="-203200">
              <a:spcAft>
                <a:spcPts val="1200"/>
              </a:spcAft>
              <a:buSzPct val="100000"/>
              <a:buChar char="•"/>
            </a:pPr>
            <a:r>
              <a:rPr lang="en-US" sz="2000" dirty="0">
                <a:solidFill>
                  <a:schemeClr val="bg1"/>
                </a:solidFill>
              </a:rPr>
              <a:t>Automatic average-rating summaries</a:t>
            </a:r>
            <a:endParaRPr lang="en-US" sz="2000" dirty="0"/>
          </a:p>
          <a:p>
            <a:pPr marL="203200" indent="-203200">
              <a:spcAft>
                <a:spcPts val="1200"/>
              </a:spcAft>
              <a:buSzPct val="100000"/>
              <a:buChar char="•"/>
            </a:pPr>
            <a:r>
              <a:rPr lang="en-US" sz="2000" dirty="0">
                <a:solidFill>
                  <a:schemeClr val="bg1"/>
                </a:solidFill>
              </a:rPr>
              <a:t>Subject-wise and faculty-wise analysis</a:t>
            </a:r>
            <a:endParaRPr lang="en-US" sz="2000" dirty="0"/>
          </a:p>
        </p:txBody>
      </p:sp>
      <p:sp>
        <p:nvSpPr>
          <p:cNvPr id="9" name="Why Python bar"/>
          <p:cNvSpPr/>
          <p:nvPr/>
        </p:nvSpPr>
        <p:spPr>
          <a:xfrm>
            <a:off x="548640" y="5623560"/>
            <a:ext cx="11091672" cy="548640"/>
          </a:xfrm>
          <a:prstGeom prst="roundRect">
            <a:avLst>
              <a:gd name="adj" fmla="val 13333"/>
            </a:avLst>
          </a:prstGeom>
          <a:solidFill>
            <a:schemeClr val="accent1"/>
          </a:solidFill>
          <a:ln w="12700">
            <a:solidFill>
              <a:schemeClr val="accent1"/>
            </a:solidFill>
            <a:prstDash val="solid"/>
          </a:ln>
        </p:spPr>
      </p:sp>
      <p:sp>
        <p:nvSpPr>
          <p:cNvPr id="10" name="Text 8"/>
          <p:cNvSpPr txBox="1"/>
          <p:nvPr/>
        </p:nvSpPr>
        <p:spPr>
          <a:xfrm>
            <a:off x="822960" y="5623560"/>
            <a:ext cx="10607040" cy="548640"/>
          </a:xfrm>
          <a:prstGeom prst="rect">
            <a:avLst/>
          </a:prstGeom>
          <a:noFill/>
          <a:ln/>
        </p:spPr>
        <p:txBody>
          <a:bodyPr wrap="square" lIns="0" tIns="0" rIns="0" bIns="0" rtlCol="0" anchor="ctr"/>
          <a:lstStyle/>
          <a:p>
            <a:pPr indent="0" marL="0">
              <a:buNone/>
            </a:pPr>
            <a:r>
              <a:rPr lang="en-US" sz="1600" b="1" dirty="0">
                <a:solidFill>
                  <a:schemeClr val="bg1"/>
                </a:solidFill>
              </a:rPr>
              <a:t>Why Python?  Readable syntax, built-in Tkinter and sqlite3, and no separate database server.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sp>
        <p:nvSpPr>
          <p:cNvPr id="3" name="Layer 1"/>
          <p:cNvSpPr/>
          <p:nvPr/>
        </p:nvSpPr>
        <p:spPr>
          <a:xfrm>
            <a:off x="548640" y="1554480"/>
            <a:ext cx="2331720" cy="1737360"/>
          </a:xfrm>
          <a:prstGeom prst="roundRect">
            <a:avLst>
              <a:gd name="adj" fmla="val 4211"/>
            </a:avLst>
          </a:prstGeom>
          <a:solidFill>
            <a:schemeClr val="accent1"/>
          </a:solidFill>
          <a:ln w="12700">
            <a:solidFill>
              <a:schemeClr val="accent1"/>
            </a:solidFill>
            <a:prstDash val="solid"/>
          </a:ln>
        </p:spPr>
      </p:sp>
      <p:sp>
        <p:nvSpPr>
          <p:cNvPr id="4" name="Text 2"/>
          <p:cNvSpPr txBox="1"/>
          <p:nvPr/>
        </p:nvSpPr>
        <p:spPr>
          <a:xfrm>
            <a:off x="731520" y="1783080"/>
            <a:ext cx="196596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Student</a:t>
            </a:r>
            <a:endParaRPr lang="en-US" sz="2000" dirty="0"/>
          </a:p>
        </p:txBody>
      </p:sp>
      <p:sp>
        <p:nvSpPr>
          <p:cNvPr id="5" name="Text 3"/>
          <p:cNvSpPr txBox="1"/>
          <p:nvPr/>
        </p:nvSpPr>
        <p:spPr>
          <a:xfrm>
            <a:off x="731520" y="2560320"/>
            <a:ext cx="1965960" cy="548640"/>
          </a:xfrm>
          <a:prstGeom prst="rect">
            <a:avLst/>
          </a:prstGeom>
          <a:noFill/>
          <a:ln/>
        </p:spPr>
        <p:txBody>
          <a:bodyPr wrap="square" lIns="0" tIns="0" rIns="0" bIns="0" rtlCol="0" anchor="t"/>
          <a:lstStyle/>
          <a:p>
            <a:pPr algn="ctr" indent="0" marL="0">
              <a:buNone/>
            </a:pPr>
            <a:r>
              <a:rPr lang="en-US" sz="1400" dirty="0">
                <a:solidFill>
                  <a:schemeClr val="bg1"/>
                </a:solidFill>
              </a:rPr>
              <a:t>Login and feedback</a:t>
            </a:r>
            <a:endParaRPr lang="en-US" sz="1400" dirty="0"/>
          </a:p>
        </p:txBody>
      </p:sp>
      <p:sp>
        <p:nvSpPr>
          <p:cNvPr id="6" name="Arrow 1"/>
          <p:cNvSpPr/>
          <p:nvPr/>
        </p:nvSpPr>
        <p:spPr>
          <a:xfrm>
            <a:off x="2990088" y="2240280"/>
            <a:ext cx="365760" cy="365760"/>
          </a:xfrm>
          <a:prstGeom prst="rightArrow">
            <a:avLst/>
          </a:prstGeom>
          <a:solidFill>
            <a:schemeClr val="accent2"/>
          </a:solidFill>
          <a:ln w="12700">
            <a:solidFill>
              <a:schemeClr val="accent2"/>
            </a:solidFill>
            <a:prstDash val="solid"/>
          </a:ln>
        </p:spPr>
      </p:sp>
      <p:sp>
        <p:nvSpPr>
          <p:cNvPr id="7" name="Layer 2"/>
          <p:cNvSpPr/>
          <p:nvPr/>
        </p:nvSpPr>
        <p:spPr>
          <a:xfrm>
            <a:off x="3465576" y="1554480"/>
            <a:ext cx="2331720" cy="1737360"/>
          </a:xfrm>
          <a:prstGeom prst="roundRect">
            <a:avLst>
              <a:gd name="adj" fmla="val 4211"/>
            </a:avLst>
          </a:prstGeom>
          <a:solidFill>
            <a:schemeClr val="tx2"/>
          </a:solidFill>
          <a:ln w="12700">
            <a:solidFill>
              <a:schemeClr val="tx2"/>
            </a:solidFill>
            <a:prstDash val="solid"/>
          </a:ln>
        </p:spPr>
      </p:sp>
      <p:sp>
        <p:nvSpPr>
          <p:cNvPr id="8" name="Text 6"/>
          <p:cNvSpPr txBox="1"/>
          <p:nvPr/>
        </p:nvSpPr>
        <p:spPr>
          <a:xfrm>
            <a:off x="3648456" y="1783080"/>
            <a:ext cx="196596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Python Application</a:t>
            </a:r>
            <a:endParaRPr lang="en-US" sz="2000" dirty="0"/>
          </a:p>
        </p:txBody>
      </p:sp>
      <p:sp>
        <p:nvSpPr>
          <p:cNvPr id="9" name="Text 7"/>
          <p:cNvSpPr txBox="1"/>
          <p:nvPr/>
        </p:nvSpPr>
        <p:spPr>
          <a:xfrm>
            <a:off x="3648456" y="2560320"/>
            <a:ext cx="1965960" cy="548640"/>
          </a:xfrm>
          <a:prstGeom prst="rect">
            <a:avLst/>
          </a:prstGeom>
          <a:noFill/>
          <a:ln/>
        </p:spPr>
        <p:txBody>
          <a:bodyPr wrap="square" lIns="0" tIns="0" rIns="0" bIns="0" rtlCol="0" anchor="t"/>
          <a:lstStyle/>
          <a:p>
            <a:pPr algn="ctr" indent="0" marL="0">
              <a:buNone/>
            </a:pPr>
            <a:r>
              <a:rPr lang="en-US" sz="1400" dirty="0">
                <a:solidFill>
                  <a:schemeClr val="bg1"/>
                </a:solidFill>
              </a:rPr>
              <a:t>Business logic and validation</a:t>
            </a:r>
            <a:endParaRPr lang="en-US" sz="1400" dirty="0"/>
          </a:p>
        </p:txBody>
      </p:sp>
      <p:sp>
        <p:nvSpPr>
          <p:cNvPr id="10" name="Arrow 2"/>
          <p:cNvSpPr/>
          <p:nvPr/>
        </p:nvSpPr>
        <p:spPr>
          <a:xfrm>
            <a:off x="5907024" y="2240280"/>
            <a:ext cx="365760" cy="365760"/>
          </a:xfrm>
          <a:prstGeom prst="rightArrow">
            <a:avLst/>
          </a:prstGeom>
          <a:solidFill>
            <a:schemeClr val="accent2"/>
          </a:solidFill>
          <a:ln w="12700">
            <a:solidFill>
              <a:schemeClr val="accent2"/>
            </a:solidFill>
            <a:prstDash val="solid"/>
          </a:ln>
        </p:spPr>
      </p:sp>
      <p:sp>
        <p:nvSpPr>
          <p:cNvPr id="11" name="Layer 3"/>
          <p:cNvSpPr/>
          <p:nvPr/>
        </p:nvSpPr>
        <p:spPr>
          <a:xfrm>
            <a:off x="6382512" y="1554480"/>
            <a:ext cx="2331720" cy="1737360"/>
          </a:xfrm>
          <a:prstGeom prst="roundRect">
            <a:avLst>
              <a:gd name="adj" fmla="val 4211"/>
            </a:avLst>
          </a:prstGeom>
          <a:solidFill>
            <a:schemeClr val="accent4"/>
          </a:solidFill>
          <a:ln w="12700">
            <a:solidFill>
              <a:schemeClr val="accent4"/>
            </a:solidFill>
            <a:prstDash val="solid"/>
          </a:ln>
        </p:spPr>
      </p:sp>
      <p:sp>
        <p:nvSpPr>
          <p:cNvPr id="12" name="Text 10"/>
          <p:cNvSpPr txBox="1"/>
          <p:nvPr/>
        </p:nvSpPr>
        <p:spPr>
          <a:xfrm>
            <a:off x="6565392" y="1783080"/>
            <a:ext cx="196596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SQLite Database</a:t>
            </a:r>
            <a:endParaRPr lang="en-US" sz="2000" dirty="0"/>
          </a:p>
        </p:txBody>
      </p:sp>
      <p:sp>
        <p:nvSpPr>
          <p:cNvPr id="13" name="Text 11"/>
          <p:cNvSpPr txBox="1"/>
          <p:nvPr/>
        </p:nvSpPr>
        <p:spPr>
          <a:xfrm>
            <a:off x="6565392" y="2560320"/>
            <a:ext cx="1965960" cy="548640"/>
          </a:xfrm>
          <a:prstGeom prst="rect">
            <a:avLst/>
          </a:prstGeom>
          <a:noFill/>
          <a:ln/>
        </p:spPr>
        <p:txBody>
          <a:bodyPr wrap="square" lIns="0" tIns="0" rIns="0" bIns="0" rtlCol="0" anchor="t"/>
          <a:lstStyle/>
          <a:p>
            <a:pPr algn="ctr" indent="0" marL="0">
              <a:buNone/>
            </a:pPr>
            <a:r>
              <a:rPr lang="en-US" sz="1400" dirty="0">
                <a:solidFill>
                  <a:schemeClr val="bg1"/>
                </a:solidFill>
              </a:rPr>
              <a:t>Students, courses, responses</a:t>
            </a:r>
            <a:endParaRPr lang="en-US" sz="1400" dirty="0"/>
          </a:p>
        </p:txBody>
      </p:sp>
      <p:sp>
        <p:nvSpPr>
          <p:cNvPr id="14" name="Arrow 3"/>
          <p:cNvSpPr/>
          <p:nvPr/>
        </p:nvSpPr>
        <p:spPr>
          <a:xfrm>
            <a:off x="8823960" y="2240280"/>
            <a:ext cx="365760" cy="365760"/>
          </a:xfrm>
          <a:prstGeom prst="rightArrow">
            <a:avLst/>
          </a:prstGeom>
          <a:solidFill>
            <a:schemeClr val="accent2"/>
          </a:solidFill>
          <a:ln w="12700">
            <a:solidFill>
              <a:schemeClr val="accent2"/>
            </a:solidFill>
            <a:prstDash val="solid"/>
          </a:ln>
        </p:spPr>
      </p:sp>
      <p:sp>
        <p:nvSpPr>
          <p:cNvPr id="15" name="Layer 4"/>
          <p:cNvSpPr/>
          <p:nvPr/>
        </p:nvSpPr>
        <p:spPr>
          <a:xfrm>
            <a:off x="9299448" y="1554480"/>
            <a:ext cx="2331720" cy="1737360"/>
          </a:xfrm>
          <a:prstGeom prst="roundRect">
            <a:avLst>
              <a:gd name="adj" fmla="val 4211"/>
            </a:avLst>
          </a:prstGeom>
          <a:solidFill>
            <a:schemeClr val="accent1"/>
          </a:solidFill>
          <a:ln w="12700">
            <a:solidFill>
              <a:schemeClr val="accent1"/>
            </a:solidFill>
            <a:prstDash val="solid"/>
          </a:ln>
        </p:spPr>
      </p:sp>
      <p:sp>
        <p:nvSpPr>
          <p:cNvPr id="16" name="Text 14"/>
          <p:cNvSpPr txBox="1"/>
          <p:nvPr/>
        </p:nvSpPr>
        <p:spPr>
          <a:xfrm>
            <a:off x="9482328" y="1783080"/>
            <a:ext cx="196596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Admin Dashboard</a:t>
            </a:r>
            <a:endParaRPr lang="en-US" sz="2000" dirty="0"/>
          </a:p>
        </p:txBody>
      </p:sp>
      <p:sp>
        <p:nvSpPr>
          <p:cNvPr id="17" name="Text 15"/>
          <p:cNvSpPr txBox="1"/>
          <p:nvPr/>
        </p:nvSpPr>
        <p:spPr>
          <a:xfrm>
            <a:off x="9482328" y="2560320"/>
            <a:ext cx="1965960" cy="548640"/>
          </a:xfrm>
          <a:prstGeom prst="rect">
            <a:avLst/>
          </a:prstGeom>
          <a:noFill/>
          <a:ln/>
        </p:spPr>
        <p:txBody>
          <a:bodyPr wrap="square" lIns="0" tIns="0" rIns="0" bIns="0" rtlCol="0" anchor="t"/>
          <a:lstStyle/>
          <a:p>
            <a:pPr algn="ctr" indent="0" marL="0">
              <a:buNone/>
            </a:pPr>
            <a:r>
              <a:rPr lang="en-US" sz="1400" dirty="0">
                <a:solidFill>
                  <a:schemeClr val="bg1"/>
                </a:solidFill>
              </a:rPr>
              <a:t>Reports and analysis</a:t>
            </a:r>
            <a:endParaRPr lang="en-US" sz="1400" dirty="0"/>
          </a:p>
        </p:txBody>
      </p:sp>
      <p:sp>
        <p:nvSpPr>
          <p:cNvPr id="18" name="Text 16"/>
          <p:cNvSpPr txBox="1"/>
          <p:nvPr/>
        </p:nvSpPr>
        <p:spPr>
          <a:xfrm>
            <a:off x="548640" y="365760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CORE FUNCTIONS</a:t>
            </a:r>
            <a:endParaRPr lang="en-US" sz="1200" dirty="0"/>
          </a:p>
        </p:txBody>
      </p:sp>
      <p:sp>
        <p:nvSpPr>
          <p:cNvPr id="19" name="Function Authentication"/>
          <p:cNvSpPr/>
          <p:nvPr/>
        </p:nvSpPr>
        <p:spPr>
          <a:xfrm>
            <a:off x="548640" y="4023360"/>
            <a:ext cx="1508760" cy="502920"/>
          </a:xfrm>
          <a:prstGeom prst="roundRect">
            <a:avLst>
              <a:gd name="adj" fmla="val 14545"/>
            </a:avLst>
          </a:prstGeom>
          <a:solidFill>
            <a:schemeClr val="bg2"/>
          </a:solidFill>
          <a:ln w="12700">
            <a:solidFill>
              <a:schemeClr val="bg2"/>
            </a:solidFill>
            <a:prstDash val="solid"/>
          </a:ln>
        </p:spPr>
      </p:sp>
      <p:sp>
        <p:nvSpPr>
          <p:cNvPr id="20" name="Text 18"/>
          <p:cNvSpPr txBox="1"/>
          <p:nvPr/>
        </p:nvSpPr>
        <p:spPr>
          <a:xfrm>
            <a:off x="5486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Authentication</a:t>
            </a:r>
            <a:endParaRPr lang="en-US" sz="1300" dirty="0"/>
          </a:p>
        </p:txBody>
      </p:sp>
      <p:sp>
        <p:nvSpPr>
          <p:cNvPr id="21" name="Function Course selection"/>
          <p:cNvSpPr/>
          <p:nvPr/>
        </p:nvSpPr>
        <p:spPr>
          <a:xfrm>
            <a:off x="2148840" y="4023360"/>
            <a:ext cx="1508760" cy="502920"/>
          </a:xfrm>
          <a:prstGeom prst="roundRect">
            <a:avLst>
              <a:gd name="adj" fmla="val 14545"/>
            </a:avLst>
          </a:prstGeom>
          <a:solidFill>
            <a:schemeClr val="bg2"/>
          </a:solidFill>
          <a:ln w="12700">
            <a:solidFill>
              <a:schemeClr val="bg2"/>
            </a:solidFill>
            <a:prstDash val="solid"/>
          </a:ln>
        </p:spPr>
      </p:sp>
      <p:sp>
        <p:nvSpPr>
          <p:cNvPr id="22" name="Text 20"/>
          <p:cNvSpPr txBox="1"/>
          <p:nvPr/>
        </p:nvSpPr>
        <p:spPr>
          <a:xfrm>
            <a:off x="21488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Course selection</a:t>
            </a:r>
            <a:endParaRPr lang="en-US" sz="1300" dirty="0"/>
          </a:p>
        </p:txBody>
      </p:sp>
      <p:sp>
        <p:nvSpPr>
          <p:cNvPr id="23" name="Function Rating"/>
          <p:cNvSpPr/>
          <p:nvPr/>
        </p:nvSpPr>
        <p:spPr>
          <a:xfrm>
            <a:off x="3749040" y="4023360"/>
            <a:ext cx="1508760" cy="502920"/>
          </a:xfrm>
          <a:prstGeom prst="roundRect">
            <a:avLst>
              <a:gd name="adj" fmla="val 14545"/>
            </a:avLst>
          </a:prstGeom>
          <a:solidFill>
            <a:schemeClr val="bg2"/>
          </a:solidFill>
          <a:ln w="12700">
            <a:solidFill>
              <a:schemeClr val="bg2"/>
            </a:solidFill>
            <a:prstDash val="solid"/>
          </a:ln>
        </p:spPr>
      </p:sp>
      <p:sp>
        <p:nvSpPr>
          <p:cNvPr id="24" name="Text 22"/>
          <p:cNvSpPr txBox="1"/>
          <p:nvPr/>
        </p:nvSpPr>
        <p:spPr>
          <a:xfrm>
            <a:off x="37490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Rating</a:t>
            </a:r>
            <a:endParaRPr lang="en-US" sz="1300" dirty="0"/>
          </a:p>
        </p:txBody>
      </p:sp>
      <p:sp>
        <p:nvSpPr>
          <p:cNvPr id="25" name="Function Comments"/>
          <p:cNvSpPr/>
          <p:nvPr/>
        </p:nvSpPr>
        <p:spPr>
          <a:xfrm>
            <a:off x="5349240" y="4023360"/>
            <a:ext cx="1508760" cy="502920"/>
          </a:xfrm>
          <a:prstGeom prst="roundRect">
            <a:avLst>
              <a:gd name="adj" fmla="val 14545"/>
            </a:avLst>
          </a:prstGeom>
          <a:solidFill>
            <a:schemeClr val="bg2"/>
          </a:solidFill>
          <a:ln w="12700">
            <a:solidFill>
              <a:schemeClr val="bg2"/>
            </a:solidFill>
            <a:prstDash val="solid"/>
          </a:ln>
        </p:spPr>
      </p:sp>
      <p:sp>
        <p:nvSpPr>
          <p:cNvPr id="26" name="Text 24"/>
          <p:cNvSpPr txBox="1"/>
          <p:nvPr/>
        </p:nvSpPr>
        <p:spPr>
          <a:xfrm>
            <a:off x="53492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Comments</a:t>
            </a:r>
            <a:endParaRPr lang="en-US" sz="1300" dirty="0"/>
          </a:p>
        </p:txBody>
      </p:sp>
      <p:sp>
        <p:nvSpPr>
          <p:cNvPr id="27" name="Function Validation"/>
          <p:cNvSpPr/>
          <p:nvPr/>
        </p:nvSpPr>
        <p:spPr>
          <a:xfrm>
            <a:off x="6949440" y="4023360"/>
            <a:ext cx="1508760" cy="502920"/>
          </a:xfrm>
          <a:prstGeom prst="roundRect">
            <a:avLst>
              <a:gd name="adj" fmla="val 14545"/>
            </a:avLst>
          </a:prstGeom>
          <a:solidFill>
            <a:schemeClr val="bg2"/>
          </a:solidFill>
          <a:ln w="12700">
            <a:solidFill>
              <a:schemeClr val="bg2"/>
            </a:solidFill>
            <a:prstDash val="solid"/>
          </a:ln>
        </p:spPr>
      </p:sp>
      <p:sp>
        <p:nvSpPr>
          <p:cNvPr id="28" name="Text 26"/>
          <p:cNvSpPr txBox="1"/>
          <p:nvPr/>
        </p:nvSpPr>
        <p:spPr>
          <a:xfrm>
            <a:off x="69494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Validation</a:t>
            </a:r>
            <a:endParaRPr lang="en-US" sz="1300" dirty="0"/>
          </a:p>
        </p:txBody>
      </p:sp>
      <p:sp>
        <p:nvSpPr>
          <p:cNvPr id="29" name="Function Storage"/>
          <p:cNvSpPr/>
          <p:nvPr/>
        </p:nvSpPr>
        <p:spPr>
          <a:xfrm>
            <a:off x="8549640" y="4023360"/>
            <a:ext cx="1508760" cy="502920"/>
          </a:xfrm>
          <a:prstGeom prst="roundRect">
            <a:avLst>
              <a:gd name="adj" fmla="val 14545"/>
            </a:avLst>
          </a:prstGeom>
          <a:solidFill>
            <a:schemeClr val="bg2"/>
          </a:solidFill>
          <a:ln w="12700">
            <a:solidFill>
              <a:schemeClr val="bg2"/>
            </a:solidFill>
            <a:prstDash val="solid"/>
          </a:ln>
        </p:spPr>
      </p:sp>
      <p:sp>
        <p:nvSpPr>
          <p:cNvPr id="30" name="Text 28"/>
          <p:cNvSpPr txBox="1"/>
          <p:nvPr/>
        </p:nvSpPr>
        <p:spPr>
          <a:xfrm>
            <a:off x="85496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Storage</a:t>
            </a:r>
            <a:endParaRPr lang="en-US" sz="1300" dirty="0"/>
          </a:p>
        </p:txBody>
      </p:sp>
      <p:sp>
        <p:nvSpPr>
          <p:cNvPr id="31" name="Function Reporting"/>
          <p:cNvSpPr/>
          <p:nvPr/>
        </p:nvSpPr>
        <p:spPr>
          <a:xfrm>
            <a:off x="10149840" y="4023360"/>
            <a:ext cx="1508760" cy="502920"/>
          </a:xfrm>
          <a:prstGeom prst="roundRect">
            <a:avLst>
              <a:gd name="adj" fmla="val 14545"/>
            </a:avLst>
          </a:prstGeom>
          <a:solidFill>
            <a:schemeClr val="bg2"/>
          </a:solidFill>
          <a:ln w="12700">
            <a:solidFill>
              <a:schemeClr val="bg2"/>
            </a:solidFill>
            <a:prstDash val="solid"/>
          </a:ln>
        </p:spPr>
      </p:sp>
      <p:sp>
        <p:nvSpPr>
          <p:cNvPr id="32" name="Text 30"/>
          <p:cNvSpPr txBox="1"/>
          <p:nvPr/>
        </p:nvSpPr>
        <p:spPr>
          <a:xfrm>
            <a:off x="10149840" y="4023360"/>
            <a:ext cx="1508760" cy="502920"/>
          </a:xfrm>
          <a:prstGeom prst="rect">
            <a:avLst/>
          </a:prstGeom>
          <a:noFill/>
          <a:ln/>
        </p:spPr>
        <p:txBody>
          <a:bodyPr wrap="square" lIns="0" tIns="0" rIns="0" bIns="0" rtlCol="0" anchor="ctr"/>
          <a:lstStyle/>
          <a:p>
            <a:pPr algn="ctr" indent="0" marL="0">
              <a:buNone/>
            </a:pPr>
            <a:r>
              <a:rPr lang="en-US" sz="1300" b="1" dirty="0">
                <a:solidFill>
                  <a:schemeClr val="tx2"/>
                </a:solidFill>
              </a:rPr>
              <a:t>Reporting</a:t>
            </a:r>
            <a:endParaRPr lang="en-US" sz="1300" dirty="0"/>
          </a:p>
        </p:txBody>
      </p:sp>
      <p:sp>
        <p:nvSpPr>
          <p:cNvPr id="33" name="Summary card"/>
          <p:cNvSpPr/>
          <p:nvPr/>
        </p:nvSpPr>
        <p:spPr>
          <a:xfrm>
            <a:off x="548640" y="4846320"/>
            <a:ext cx="11091672" cy="1280160"/>
          </a:xfrm>
          <a:prstGeom prst="roundRect">
            <a:avLst>
              <a:gd name="adj" fmla="val 5714"/>
            </a:avLst>
          </a:prstGeom>
          <a:solidFill>
            <a:schemeClr val="bg2"/>
          </a:solidFill>
          <a:ln w="12700">
            <a:solidFill>
              <a:schemeClr val="bg2"/>
            </a:solidFill>
            <a:prstDash val="solid"/>
          </a:ln>
        </p:spPr>
      </p:sp>
      <p:sp>
        <p:nvSpPr>
          <p:cNvPr id="34" name="Shape 32"/>
          <p:cNvSpPr/>
          <p:nvPr/>
        </p:nvSpPr>
        <p:spPr>
          <a:xfrm>
            <a:off x="548640" y="4846320"/>
            <a:ext cx="73152" cy="1280160"/>
          </a:xfrm>
          <a:prstGeom prst="rect">
            <a:avLst/>
          </a:prstGeom>
          <a:solidFill>
            <a:schemeClr val="accent2"/>
          </a:solidFill>
          <a:ln w="12700">
            <a:solidFill>
              <a:schemeClr val="accent2"/>
            </a:solidFill>
            <a:prstDash val="solid"/>
          </a:ln>
        </p:spPr>
      </p:sp>
      <p:sp>
        <p:nvSpPr>
          <p:cNvPr id="35" name="Text 33"/>
          <p:cNvSpPr txBox="1"/>
          <p:nvPr/>
        </p:nvSpPr>
        <p:spPr>
          <a:xfrm>
            <a:off x="914400" y="4846320"/>
            <a:ext cx="10424160" cy="1280160"/>
          </a:xfrm>
          <a:prstGeom prst="rect">
            <a:avLst/>
          </a:prstGeom>
          <a:noFill/>
          <a:ln/>
        </p:spPr>
        <p:txBody>
          <a:bodyPr wrap="square" lIns="0" tIns="0" rIns="0" bIns="0" rtlCol="0" anchor="ctr"/>
          <a:lstStyle/>
          <a:p>
            <a:pPr indent="0" marL="0">
              <a:buNone/>
            </a:pPr>
            <a:r>
              <a:rPr lang="en-US" sz="1800" dirty="0">
                <a:solidFill>
                  <a:schemeClr val="tx1"/>
                </a:solidFill>
              </a:rPr>
              <a:t>The GUI handles user interaction, the Python layer validates requests and runs database operations, and administrators read the stored responses to produce summaries.</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Feedback Submission Flow</a:t>
            </a:r>
            <a:endParaRPr lang="en-US" sz="3000" dirty="0"/>
          </a:p>
        </p:txBody>
      </p:sp>
      <p:sp>
        <p:nvSpPr>
          <p:cNvPr id="3" name="Step 1"/>
          <p:cNvSpPr/>
          <p:nvPr/>
        </p:nvSpPr>
        <p:spPr>
          <a:xfrm>
            <a:off x="548640" y="1554480"/>
            <a:ext cx="1508760" cy="2011680"/>
          </a:xfrm>
          <a:prstGeom prst="roundRect">
            <a:avLst>
              <a:gd name="adj" fmla="val 4848"/>
            </a:avLst>
          </a:prstGeom>
          <a:solidFill>
            <a:schemeClr val="bg2"/>
          </a:solidFill>
          <a:ln w="12700">
            <a:solidFill>
              <a:schemeClr val="bg2"/>
            </a:solidFill>
            <a:prstDash val="solid"/>
          </a:ln>
        </p:spPr>
      </p:sp>
      <p:sp>
        <p:nvSpPr>
          <p:cNvPr id="4" name="Number 1"/>
          <p:cNvSpPr/>
          <p:nvPr/>
        </p:nvSpPr>
        <p:spPr>
          <a:xfrm>
            <a:off x="1051560" y="17830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10515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40080" y="2514600"/>
            <a:ext cx="1325880" cy="914400"/>
          </a:xfrm>
          <a:prstGeom prst="rect">
            <a:avLst/>
          </a:prstGeom>
          <a:noFill/>
          <a:ln/>
        </p:spPr>
        <p:txBody>
          <a:bodyPr wrap="square" lIns="0" tIns="0" rIns="0" bIns="0" rtlCol="0" anchor="t"/>
          <a:lstStyle/>
          <a:p>
            <a:pPr algn="ctr" indent="0" marL="0">
              <a:buNone/>
            </a:pPr>
            <a:r>
              <a:rPr lang="en-US" sz="1500" b="1" dirty="0">
                <a:solidFill>
                  <a:schemeClr val="tx2"/>
                </a:solidFill>
              </a:rPr>
              <a:t>Student login</a:t>
            </a:r>
            <a:endParaRPr lang="en-US" sz="1500" dirty="0"/>
          </a:p>
        </p:txBody>
      </p:sp>
      <p:sp>
        <p:nvSpPr>
          <p:cNvPr id="7" name="Step 2"/>
          <p:cNvSpPr/>
          <p:nvPr/>
        </p:nvSpPr>
        <p:spPr>
          <a:xfrm>
            <a:off x="2148840" y="1554480"/>
            <a:ext cx="1508760" cy="2011680"/>
          </a:xfrm>
          <a:prstGeom prst="roundRect">
            <a:avLst>
              <a:gd name="adj" fmla="val 4848"/>
            </a:avLst>
          </a:prstGeom>
          <a:solidFill>
            <a:schemeClr val="accent1"/>
          </a:solidFill>
          <a:ln w="12700">
            <a:solidFill>
              <a:schemeClr val="accent1"/>
            </a:solidFill>
            <a:prstDash val="solid"/>
          </a:ln>
        </p:spPr>
      </p:sp>
      <p:sp>
        <p:nvSpPr>
          <p:cNvPr id="8" name="Number 2"/>
          <p:cNvSpPr/>
          <p:nvPr/>
        </p:nvSpPr>
        <p:spPr>
          <a:xfrm>
            <a:off x="2651760" y="1783080"/>
            <a:ext cx="502920" cy="502920"/>
          </a:xfrm>
          <a:prstGeom prst="ellipse">
            <a:avLst/>
          </a:prstGeom>
          <a:solidFill>
            <a:schemeClr val="bg1"/>
          </a:solidFill>
          <a:ln w="12700">
            <a:solidFill>
              <a:schemeClr val="bg1"/>
            </a:solidFill>
            <a:prstDash val="solid"/>
          </a:ln>
        </p:spPr>
      </p:sp>
      <p:sp>
        <p:nvSpPr>
          <p:cNvPr id="9" name="Text 7"/>
          <p:cNvSpPr txBox="1"/>
          <p:nvPr/>
        </p:nvSpPr>
        <p:spPr>
          <a:xfrm>
            <a:off x="2651760" y="17830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0" name="Text 8"/>
          <p:cNvSpPr txBox="1"/>
          <p:nvPr/>
        </p:nvSpPr>
        <p:spPr>
          <a:xfrm>
            <a:off x="2240280" y="2514600"/>
            <a:ext cx="1325880" cy="914400"/>
          </a:xfrm>
          <a:prstGeom prst="rect">
            <a:avLst/>
          </a:prstGeom>
          <a:noFill/>
          <a:ln/>
        </p:spPr>
        <p:txBody>
          <a:bodyPr wrap="square" lIns="0" tIns="0" rIns="0" bIns="0" rtlCol="0" anchor="t"/>
          <a:lstStyle/>
          <a:p>
            <a:pPr algn="ctr" indent="0" marL="0">
              <a:buNone/>
            </a:pPr>
            <a:r>
              <a:rPr lang="en-US" sz="1500" b="1" dirty="0">
                <a:solidFill>
                  <a:schemeClr val="bg1"/>
                </a:solidFill>
              </a:rPr>
              <a:t>Validate credentials</a:t>
            </a:r>
            <a:endParaRPr lang="en-US" sz="1500" dirty="0"/>
          </a:p>
        </p:txBody>
      </p:sp>
      <p:sp>
        <p:nvSpPr>
          <p:cNvPr id="11" name="Step 3"/>
          <p:cNvSpPr/>
          <p:nvPr/>
        </p:nvSpPr>
        <p:spPr>
          <a:xfrm>
            <a:off x="3749040" y="1554480"/>
            <a:ext cx="1508760" cy="2011680"/>
          </a:xfrm>
          <a:prstGeom prst="roundRect">
            <a:avLst>
              <a:gd name="adj" fmla="val 4848"/>
            </a:avLst>
          </a:prstGeom>
          <a:solidFill>
            <a:schemeClr val="bg2"/>
          </a:solidFill>
          <a:ln w="12700">
            <a:solidFill>
              <a:schemeClr val="bg2"/>
            </a:solidFill>
            <a:prstDash val="solid"/>
          </a:ln>
        </p:spPr>
      </p:sp>
      <p:sp>
        <p:nvSpPr>
          <p:cNvPr id="12" name="Number 3"/>
          <p:cNvSpPr/>
          <p:nvPr/>
        </p:nvSpPr>
        <p:spPr>
          <a:xfrm>
            <a:off x="4251960" y="178308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2519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3840480" y="2514600"/>
            <a:ext cx="1325880" cy="914400"/>
          </a:xfrm>
          <a:prstGeom prst="rect">
            <a:avLst/>
          </a:prstGeom>
          <a:noFill/>
          <a:ln/>
        </p:spPr>
        <p:txBody>
          <a:bodyPr wrap="square" lIns="0" tIns="0" rIns="0" bIns="0" rtlCol="0" anchor="t"/>
          <a:lstStyle/>
          <a:p>
            <a:pPr algn="ctr" indent="0" marL="0">
              <a:buNone/>
            </a:pPr>
            <a:r>
              <a:rPr lang="en-US" sz="1500" b="1" dirty="0">
                <a:solidFill>
                  <a:schemeClr val="tx2"/>
                </a:solidFill>
              </a:rPr>
              <a:t>Select course</a:t>
            </a:r>
            <a:endParaRPr lang="en-US" sz="1500" dirty="0"/>
          </a:p>
        </p:txBody>
      </p:sp>
      <p:sp>
        <p:nvSpPr>
          <p:cNvPr id="15" name="Step 4"/>
          <p:cNvSpPr/>
          <p:nvPr/>
        </p:nvSpPr>
        <p:spPr>
          <a:xfrm>
            <a:off x="5349240" y="1554480"/>
            <a:ext cx="1508760" cy="2011680"/>
          </a:xfrm>
          <a:prstGeom prst="roundRect">
            <a:avLst>
              <a:gd name="adj" fmla="val 4848"/>
            </a:avLst>
          </a:prstGeom>
          <a:solidFill>
            <a:schemeClr val="bg2"/>
          </a:solidFill>
          <a:ln w="12700">
            <a:solidFill>
              <a:schemeClr val="bg2"/>
            </a:solidFill>
            <a:prstDash val="solid"/>
          </a:ln>
        </p:spPr>
      </p:sp>
      <p:sp>
        <p:nvSpPr>
          <p:cNvPr id="16" name="Number 4"/>
          <p:cNvSpPr/>
          <p:nvPr/>
        </p:nvSpPr>
        <p:spPr>
          <a:xfrm>
            <a:off x="5852160" y="178308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8521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5440680" y="2514600"/>
            <a:ext cx="1325880" cy="914400"/>
          </a:xfrm>
          <a:prstGeom prst="rect">
            <a:avLst/>
          </a:prstGeom>
          <a:noFill/>
          <a:ln/>
        </p:spPr>
        <p:txBody>
          <a:bodyPr wrap="square" lIns="0" tIns="0" rIns="0" bIns="0" rtlCol="0" anchor="t"/>
          <a:lstStyle/>
          <a:p>
            <a:pPr algn="ctr" indent="0" marL="0">
              <a:buNone/>
            </a:pPr>
            <a:r>
              <a:rPr lang="en-US" sz="1500" b="1" dirty="0">
                <a:solidFill>
                  <a:schemeClr val="tx2"/>
                </a:solidFill>
              </a:rPr>
              <a:t>Answer questions</a:t>
            </a:r>
            <a:endParaRPr lang="en-US" sz="1500" dirty="0"/>
          </a:p>
        </p:txBody>
      </p:sp>
      <p:sp>
        <p:nvSpPr>
          <p:cNvPr id="19" name="Step 5"/>
          <p:cNvSpPr/>
          <p:nvPr/>
        </p:nvSpPr>
        <p:spPr>
          <a:xfrm>
            <a:off x="6949440" y="1554480"/>
            <a:ext cx="1508760" cy="2011680"/>
          </a:xfrm>
          <a:prstGeom prst="roundRect">
            <a:avLst>
              <a:gd name="adj" fmla="val 4848"/>
            </a:avLst>
          </a:prstGeom>
          <a:solidFill>
            <a:schemeClr val="accent1"/>
          </a:solidFill>
          <a:ln w="12700">
            <a:solidFill>
              <a:schemeClr val="accent1"/>
            </a:solidFill>
            <a:prstDash val="solid"/>
          </a:ln>
        </p:spPr>
      </p:sp>
      <p:sp>
        <p:nvSpPr>
          <p:cNvPr id="20" name="Number 5"/>
          <p:cNvSpPr/>
          <p:nvPr/>
        </p:nvSpPr>
        <p:spPr>
          <a:xfrm>
            <a:off x="7452360" y="1783080"/>
            <a:ext cx="502920" cy="502920"/>
          </a:xfrm>
          <a:prstGeom prst="ellipse">
            <a:avLst/>
          </a:prstGeom>
          <a:solidFill>
            <a:schemeClr val="bg1"/>
          </a:solidFill>
          <a:ln w="12700">
            <a:solidFill>
              <a:schemeClr val="bg1"/>
            </a:solidFill>
            <a:prstDash val="solid"/>
          </a:ln>
        </p:spPr>
      </p:sp>
      <p:sp>
        <p:nvSpPr>
          <p:cNvPr id="21" name="Text 19"/>
          <p:cNvSpPr txBox="1"/>
          <p:nvPr/>
        </p:nvSpPr>
        <p:spPr>
          <a:xfrm>
            <a:off x="7452360" y="17830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22" name="Text 20"/>
          <p:cNvSpPr txBox="1"/>
          <p:nvPr/>
        </p:nvSpPr>
        <p:spPr>
          <a:xfrm>
            <a:off x="7040880" y="2514600"/>
            <a:ext cx="1325880" cy="914400"/>
          </a:xfrm>
          <a:prstGeom prst="rect">
            <a:avLst/>
          </a:prstGeom>
          <a:noFill/>
          <a:ln/>
        </p:spPr>
        <p:txBody>
          <a:bodyPr wrap="square" lIns="0" tIns="0" rIns="0" bIns="0" rtlCol="0" anchor="t"/>
          <a:lstStyle/>
          <a:p>
            <a:pPr algn="ctr" indent="0" marL="0">
              <a:buNone/>
            </a:pPr>
            <a:r>
              <a:rPr lang="en-US" sz="1500" b="1" dirty="0">
                <a:solidFill>
                  <a:schemeClr val="bg1"/>
                </a:solidFill>
              </a:rPr>
              <a:t>Validate form</a:t>
            </a:r>
            <a:endParaRPr lang="en-US" sz="1500" dirty="0"/>
          </a:p>
        </p:txBody>
      </p:sp>
      <p:sp>
        <p:nvSpPr>
          <p:cNvPr id="23" name="Step 6"/>
          <p:cNvSpPr/>
          <p:nvPr/>
        </p:nvSpPr>
        <p:spPr>
          <a:xfrm>
            <a:off x="8549640" y="1554480"/>
            <a:ext cx="1508760" cy="2011680"/>
          </a:xfrm>
          <a:prstGeom prst="roundRect">
            <a:avLst>
              <a:gd name="adj" fmla="val 4848"/>
            </a:avLst>
          </a:prstGeom>
          <a:solidFill>
            <a:schemeClr val="bg2"/>
          </a:solidFill>
          <a:ln w="12700">
            <a:solidFill>
              <a:schemeClr val="bg2"/>
            </a:solidFill>
            <a:prstDash val="solid"/>
          </a:ln>
        </p:spPr>
      </p:sp>
      <p:sp>
        <p:nvSpPr>
          <p:cNvPr id="24" name="Number 6"/>
          <p:cNvSpPr/>
          <p:nvPr/>
        </p:nvSpPr>
        <p:spPr>
          <a:xfrm>
            <a:off x="9052560" y="178308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90525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8641080" y="2514600"/>
            <a:ext cx="1325880" cy="914400"/>
          </a:xfrm>
          <a:prstGeom prst="rect">
            <a:avLst/>
          </a:prstGeom>
          <a:noFill/>
          <a:ln/>
        </p:spPr>
        <p:txBody>
          <a:bodyPr wrap="square" lIns="0" tIns="0" rIns="0" bIns="0" rtlCol="0" anchor="t"/>
          <a:lstStyle/>
          <a:p>
            <a:pPr algn="ctr" indent="0" marL="0">
              <a:buNone/>
            </a:pPr>
            <a:r>
              <a:rPr lang="en-US" sz="1500" b="1" dirty="0">
                <a:solidFill>
                  <a:schemeClr val="tx2"/>
                </a:solidFill>
              </a:rPr>
              <a:t>Save feedback</a:t>
            </a:r>
            <a:endParaRPr lang="en-US" sz="1500" dirty="0"/>
          </a:p>
        </p:txBody>
      </p:sp>
      <p:sp>
        <p:nvSpPr>
          <p:cNvPr id="27" name="Step 7"/>
          <p:cNvSpPr/>
          <p:nvPr/>
        </p:nvSpPr>
        <p:spPr>
          <a:xfrm>
            <a:off x="10149840" y="1554480"/>
            <a:ext cx="1508760" cy="2011680"/>
          </a:xfrm>
          <a:prstGeom prst="roundRect">
            <a:avLst>
              <a:gd name="adj" fmla="val 4848"/>
            </a:avLst>
          </a:prstGeom>
          <a:solidFill>
            <a:schemeClr val="bg2"/>
          </a:solidFill>
          <a:ln w="12700">
            <a:solidFill>
              <a:schemeClr val="bg2"/>
            </a:solidFill>
            <a:prstDash val="solid"/>
          </a:ln>
        </p:spPr>
      </p:sp>
      <p:sp>
        <p:nvSpPr>
          <p:cNvPr id="28" name="Number 7"/>
          <p:cNvSpPr/>
          <p:nvPr/>
        </p:nvSpPr>
        <p:spPr>
          <a:xfrm>
            <a:off x="10652760" y="1783080"/>
            <a:ext cx="502920" cy="502920"/>
          </a:xfrm>
          <a:prstGeom prst="ellipse">
            <a:avLst/>
          </a:prstGeom>
          <a:solidFill>
            <a:schemeClr val="accent1"/>
          </a:solidFill>
          <a:ln w="12700">
            <a:solidFill>
              <a:schemeClr val="accent1"/>
            </a:solidFill>
            <a:prstDash val="solid"/>
          </a:ln>
        </p:spPr>
      </p:sp>
      <p:sp>
        <p:nvSpPr>
          <p:cNvPr id="29" name="Text 27"/>
          <p:cNvSpPr txBox="1"/>
          <p:nvPr/>
        </p:nvSpPr>
        <p:spPr>
          <a:xfrm>
            <a:off x="106527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0" name="Text 28"/>
          <p:cNvSpPr txBox="1"/>
          <p:nvPr/>
        </p:nvSpPr>
        <p:spPr>
          <a:xfrm>
            <a:off x="10241280" y="2514600"/>
            <a:ext cx="1325880" cy="914400"/>
          </a:xfrm>
          <a:prstGeom prst="rect">
            <a:avLst/>
          </a:prstGeom>
          <a:noFill/>
          <a:ln/>
        </p:spPr>
        <p:txBody>
          <a:bodyPr wrap="square" lIns="0" tIns="0" rIns="0" bIns="0" rtlCol="0" anchor="t"/>
          <a:lstStyle/>
          <a:p>
            <a:pPr algn="ctr" indent="0" marL="0">
              <a:buNone/>
            </a:pPr>
            <a:r>
              <a:rPr lang="en-US" sz="1500" b="1" dirty="0">
                <a:solidFill>
                  <a:schemeClr val="tx2"/>
                </a:solidFill>
              </a:rPr>
              <a:t>Show confirmation</a:t>
            </a:r>
            <a:endParaRPr lang="en-US" sz="1500" dirty="0"/>
          </a:p>
        </p:txBody>
      </p:sp>
      <p:sp>
        <p:nvSpPr>
          <p:cNvPr id="31" name="Shape 29"/>
          <p:cNvSpPr/>
          <p:nvPr/>
        </p:nvSpPr>
        <p:spPr>
          <a:xfrm>
            <a:off x="548640" y="3749040"/>
            <a:ext cx="228600" cy="228600"/>
          </a:xfrm>
          <a:prstGeom prst="roundRect">
            <a:avLst>
              <a:gd name="adj" fmla="val 16000"/>
            </a:avLst>
          </a:prstGeom>
          <a:solidFill>
            <a:schemeClr val="accent1"/>
          </a:solidFill>
          <a:ln w="12700">
            <a:solidFill>
              <a:schemeClr val="accent1"/>
            </a:solidFill>
            <a:prstDash val="solid"/>
          </a:ln>
        </p:spPr>
      </p:sp>
      <p:sp>
        <p:nvSpPr>
          <p:cNvPr id="32" name="Text 30"/>
          <p:cNvSpPr txBox="1"/>
          <p:nvPr/>
        </p:nvSpPr>
        <p:spPr>
          <a:xfrm>
            <a:off x="868680" y="3721608"/>
            <a:ext cx="2743200" cy="274320"/>
          </a:xfrm>
          <a:prstGeom prst="rect">
            <a:avLst/>
          </a:prstGeom>
          <a:noFill/>
          <a:ln/>
        </p:spPr>
        <p:txBody>
          <a:bodyPr wrap="square" lIns="0" tIns="0" rIns="0" bIns="0" rtlCol="0" anchor="ctr"/>
          <a:lstStyle/>
          <a:p>
            <a:pPr indent="0" marL="0">
              <a:buNone/>
            </a:pPr>
            <a:r>
              <a:rPr lang="en-US" sz="1300" dirty="0">
                <a:solidFill>
                  <a:schemeClr val="accent4"/>
                </a:solidFill>
              </a:rPr>
              <a:t>Validation checkpoints</a:t>
            </a:r>
            <a:endParaRPr lang="en-US" sz="1300" dirty="0"/>
          </a:p>
        </p:txBody>
      </p:sp>
      <p:sp>
        <p:nvSpPr>
          <p:cNvPr id="33" name="Example card"/>
          <p:cNvSpPr/>
          <p:nvPr/>
        </p:nvSpPr>
        <p:spPr>
          <a:xfrm>
            <a:off x="548640" y="4251960"/>
            <a:ext cx="6858000" cy="1874520"/>
          </a:xfrm>
          <a:prstGeom prst="roundRect">
            <a:avLst>
              <a:gd name="adj" fmla="val 3902"/>
            </a:avLst>
          </a:prstGeom>
          <a:solidFill>
            <a:schemeClr val="bg2"/>
          </a:solidFill>
          <a:ln w="12700">
            <a:solidFill>
              <a:schemeClr val="bg2"/>
            </a:solidFill>
            <a:prstDash val="solid"/>
          </a:ln>
        </p:spPr>
      </p:sp>
      <p:sp>
        <p:nvSpPr>
          <p:cNvPr id="34" name="Text 32"/>
          <p:cNvSpPr txBox="1"/>
          <p:nvPr/>
        </p:nvSpPr>
        <p:spPr>
          <a:xfrm>
            <a:off x="868680" y="448056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EXAMPLE</a:t>
            </a:r>
            <a:endParaRPr lang="en-US" sz="1200" dirty="0"/>
          </a:p>
        </p:txBody>
      </p:sp>
      <p:sp>
        <p:nvSpPr>
          <p:cNvPr id="35" name="Text 33"/>
          <p:cNvSpPr txBox="1"/>
          <p:nvPr/>
        </p:nvSpPr>
        <p:spPr>
          <a:xfrm>
            <a:off x="868680" y="4846320"/>
            <a:ext cx="6217920" cy="1143000"/>
          </a:xfrm>
          <a:prstGeom prst="rect">
            <a:avLst/>
          </a:prstGeom>
          <a:noFill/>
          <a:ln/>
        </p:spPr>
        <p:txBody>
          <a:bodyPr wrap="square" lIns="0" tIns="0" rIns="0" bIns="0" rtlCol="0" anchor="t"/>
          <a:lstStyle/>
          <a:p>
            <a:pPr indent="0" marL="0">
              <a:buNone/>
            </a:pPr>
            <a:r>
              <a:rPr lang="en-US" sz="1800" dirty="0">
                <a:solidFill>
                  <a:schemeClr val="tx1"/>
                </a:solidFill>
              </a:rPr>
              <a:t>A student logs in, picks Python Programming and rates it 4. The form is checked, saved in SQLite and counted in the administrator's average rating.</a:t>
            </a:r>
            <a:endParaRPr lang="en-US" sz="1800" dirty="0"/>
          </a:p>
        </p:txBody>
      </p:sp>
      <p:sp>
        <p:nvSpPr>
          <p:cNvPr id="36" name="Validation card"/>
          <p:cNvSpPr/>
          <p:nvPr/>
        </p:nvSpPr>
        <p:spPr>
          <a:xfrm>
            <a:off x="7589520" y="4251960"/>
            <a:ext cx="4050792" cy="1874520"/>
          </a:xfrm>
          <a:prstGeom prst="roundRect">
            <a:avLst>
              <a:gd name="adj" fmla="val 3902"/>
            </a:avLst>
          </a:prstGeom>
          <a:solidFill>
            <a:schemeClr val="tx2"/>
          </a:solidFill>
          <a:ln w="12700">
            <a:solidFill>
              <a:schemeClr val="tx2"/>
            </a:solidFill>
            <a:prstDash val="solid"/>
          </a:ln>
        </p:spPr>
      </p:sp>
      <p:sp>
        <p:nvSpPr>
          <p:cNvPr id="37" name="Text 35"/>
          <p:cNvSpPr txBox="1"/>
          <p:nvPr/>
        </p:nvSpPr>
        <p:spPr>
          <a:xfrm>
            <a:off x="7909560" y="4480560"/>
            <a:ext cx="3474720" cy="36576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Validate first</a:t>
            </a:r>
            <a:endParaRPr lang="en-US" sz="2000" dirty="0"/>
          </a:p>
        </p:txBody>
      </p:sp>
      <p:sp>
        <p:nvSpPr>
          <p:cNvPr id="38" name="Text 36"/>
          <p:cNvSpPr txBox="1"/>
          <p:nvPr/>
        </p:nvSpPr>
        <p:spPr>
          <a:xfrm>
            <a:off x="7909560" y="4937760"/>
            <a:ext cx="3474720" cy="1051560"/>
          </a:xfrm>
          <a:prstGeom prst="rect">
            <a:avLst/>
          </a:prstGeom>
          <a:noFill/>
          <a:ln/>
        </p:spPr>
        <p:txBody>
          <a:bodyPr wrap="square" lIns="0" tIns="0" rIns="0" bIns="0" rtlCol="0" anchor="t"/>
          <a:lstStyle/>
          <a:p>
            <a:pPr indent="0" marL="0">
              <a:buNone/>
            </a:pPr>
            <a:r>
              <a:rPr lang="en-US" sz="1600" dirty="0">
                <a:solidFill>
                  <a:schemeClr val="bg1"/>
                </a:solidFill>
              </a:rPr>
              <a:t>Checks run before the database insert, so invalid or incomplete records are never stored.</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Database Design and Modules</a:t>
            </a:r>
            <a:endParaRPr lang="en-US" sz="3000" dirty="0"/>
          </a:p>
        </p:txBody>
      </p:sp>
      <p:sp>
        <p:nvSpPr>
          <p:cNvPr id="3" name="Text 1"/>
          <p:cNvSpPr txBox="1"/>
          <p:nvPr/>
        </p:nvSpPr>
        <p:spPr>
          <a:xfrm>
            <a:off x="731520" y="1463040"/>
            <a:ext cx="128016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TABLE</a:t>
            </a:r>
            <a:endParaRPr lang="en-US" sz="1200" dirty="0"/>
          </a:p>
        </p:txBody>
      </p:sp>
      <p:sp>
        <p:nvSpPr>
          <p:cNvPr id="4" name="Text 2"/>
          <p:cNvSpPr txBox="1"/>
          <p:nvPr/>
        </p:nvSpPr>
        <p:spPr>
          <a:xfrm>
            <a:off x="2194560" y="1463040"/>
            <a:ext cx="260604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KEY FIELDS</a:t>
            </a:r>
            <a:endParaRPr lang="en-US" sz="1200" dirty="0"/>
          </a:p>
        </p:txBody>
      </p:sp>
      <p:sp>
        <p:nvSpPr>
          <p:cNvPr id="5" name="Text 3"/>
          <p:cNvSpPr txBox="1"/>
          <p:nvPr/>
        </p:nvSpPr>
        <p:spPr>
          <a:xfrm>
            <a:off x="4983480" y="1463040"/>
            <a:ext cx="214884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PURPOSE</a:t>
            </a:r>
            <a:endParaRPr lang="en-US" sz="1200" dirty="0"/>
          </a:p>
        </p:txBody>
      </p:sp>
      <p:sp>
        <p:nvSpPr>
          <p:cNvPr id="6" name="DB row students"/>
          <p:cNvSpPr/>
          <p:nvPr/>
        </p:nvSpPr>
        <p:spPr>
          <a:xfrm>
            <a:off x="548640" y="1874520"/>
            <a:ext cx="6583680" cy="960120"/>
          </a:xfrm>
          <a:prstGeom prst="roundRect">
            <a:avLst>
              <a:gd name="adj" fmla="val 7619"/>
            </a:avLst>
          </a:prstGeom>
          <a:solidFill>
            <a:schemeClr val="bg2"/>
          </a:solidFill>
          <a:ln w="12700">
            <a:solidFill>
              <a:schemeClr val="bg2"/>
            </a:solidFill>
            <a:prstDash val="solid"/>
          </a:ln>
        </p:spPr>
      </p:sp>
      <p:sp>
        <p:nvSpPr>
          <p:cNvPr id="7" name="Text 5"/>
          <p:cNvSpPr txBox="1"/>
          <p:nvPr/>
        </p:nvSpPr>
        <p:spPr>
          <a:xfrm>
            <a:off x="731520" y="1874520"/>
            <a:ext cx="1188720" cy="960120"/>
          </a:xfrm>
          <a:prstGeom prst="rect">
            <a:avLst/>
          </a:prstGeom>
          <a:noFill/>
          <a:ln/>
        </p:spPr>
        <p:txBody>
          <a:bodyPr wrap="square" lIns="0" tIns="0" rIns="0" bIns="0" rtlCol="0" anchor="ctr"/>
          <a:lstStyle/>
          <a:p>
            <a:pPr indent="0" marL="0">
              <a:buNone/>
            </a:pPr>
            <a:r>
              <a:rPr lang="en-US" sz="1600" b="1" dirty="0">
                <a:solidFill>
                  <a:schemeClr val="accent1"/>
                </a:solidFill>
                <a:latin typeface="Consolas" pitchFamily="34" charset="0"/>
                <a:ea typeface="Consolas" pitchFamily="34" charset="-122"/>
                <a:cs typeface="Consolas" pitchFamily="34" charset="-120"/>
              </a:rPr>
              <a:t>students</a:t>
            </a:r>
            <a:endParaRPr lang="en-US" sz="1600" dirty="0"/>
          </a:p>
        </p:txBody>
      </p:sp>
      <p:sp>
        <p:nvSpPr>
          <p:cNvPr id="8" name="Text 6"/>
          <p:cNvSpPr txBox="1"/>
          <p:nvPr/>
        </p:nvSpPr>
        <p:spPr>
          <a:xfrm>
            <a:off x="2194560" y="1874520"/>
            <a:ext cx="2514600" cy="960120"/>
          </a:xfrm>
          <a:prstGeom prst="rect">
            <a:avLst/>
          </a:prstGeom>
          <a:noFill/>
          <a:ln/>
        </p:spPr>
        <p:txBody>
          <a:bodyPr wrap="square" lIns="0" tIns="0" rIns="0" bIns="0" rtlCol="0" anchor="ctr"/>
          <a:lstStyle/>
          <a:p>
            <a:pPr indent="0" marL="0">
              <a:buNone/>
            </a:pPr>
            <a:r>
              <a:rPr lang="en-US" sz="1400" dirty="0">
                <a:solidFill>
                  <a:schemeClr val="tx1"/>
                </a:solidFill>
              </a:rPr>
              <a:t>student_id, name, password_hash</a:t>
            </a:r>
            <a:endParaRPr lang="en-US" sz="1400" dirty="0"/>
          </a:p>
        </p:txBody>
      </p:sp>
      <p:sp>
        <p:nvSpPr>
          <p:cNvPr id="9" name="Text 7"/>
          <p:cNvSpPr txBox="1"/>
          <p:nvPr/>
        </p:nvSpPr>
        <p:spPr>
          <a:xfrm>
            <a:off x="4983480" y="1874520"/>
            <a:ext cx="2057400" cy="960120"/>
          </a:xfrm>
          <a:prstGeom prst="rect">
            <a:avLst/>
          </a:prstGeom>
          <a:noFill/>
          <a:ln/>
        </p:spPr>
        <p:txBody>
          <a:bodyPr wrap="square" lIns="0" tIns="0" rIns="0" bIns="0" rtlCol="0" anchor="ctr"/>
          <a:lstStyle/>
          <a:p>
            <a:pPr indent="0" marL="0">
              <a:buNone/>
            </a:pPr>
            <a:r>
              <a:rPr lang="en-US" sz="1400" dirty="0">
                <a:solidFill>
                  <a:schemeClr val="tx1"/>
                </a:solidFill>
              </a:rPr>
              <a:t>Registered student accounts</a:t>
            </a:r>
            <a:endParaRPr lang="en-US" sz="1400" dirty="0"/>
          </a:p>
        </p:txBody>
      </p:sp>
      <p:sp>
        <p:nvSpPr>
          <p:cNvPr id="10" name="DB row courses"/>
          <p:cNvSpPr/>
          <p:nvPr/>
        </p:nvSpPr>
        <p:spPr>
          <a:xfrm>
            <a:off x="548640" y="2926080"/>
            <a:ext cx="6583680" cy="960120"/>
          </a:xfrm>
          <a:prstGeom prst="roundRect">
            <a:avLst>
              <a:gd name="adj" fmla="val 7619"/>
            </a:avLst>
          </a:prstGeom>
          <a:solidFill>
            <a:schemeClr val="bg2"/>
          </a:solidFill>
          <a:ln w="12700">
            <a:solidFill>
              <a:schemeClr val="bg2"/>
            </a:solidFill>
            <a:prstDash val="solid"/>
          </a:ln>
        </p:spPr>
      </p:sp>
      <p:sp>
        <p:nvSpPr>
          <p:cNvPr id="11" name="Text 9"/>
          <p:cNvSpPr txBox="1"/>
          <p:nvPr/>
        </p:nvSpPr>
        <p:spPr>
          <a:xfrm>
            <a:off x="731520" y="2926080"/>
            <a:ext cx="1188720" cy="960120"/>
          </a:xfrm>
          <a:prstGeom prst="rect">
            <a:avLst/>
          </a:prstGeom>
          <a:noFill/>
          <a:ln/>
        </p:spPr>
        <p:txBody>
          <a:bodyPr wrap="square" lIns="0" tIns="0" rIns="0" bIns="0" rtlCol="0" anchor="ctr"/>
          <a:lstStyle/>
          <a:p>
            <a:pPr indent="0" marL="0">
              <a:buNone/>
            </a:pPr>
            <a:r>
              <a:rPr lang="en-US" sz="1600" b="1" dirty="0">
                <a:solidFill>
                  <a:schemeClr val="accent1"/>
                </a:solidFill>
                <a:latin typeface="Consolas" pitchFamily="34" charset="0"/>
                <a:ea typeface="Consolas" pitchFamily="34" charset="-122"/>
                <a:cs typeface="Consolas" pitchFamily="34" charset="-120"/>
              </a:rPr>
              <a:t>courses</a:t>
            </a:r>
            <a:endParaRPr lang="en-US" sz="1600" dirty="0"/>
          </a:p>
        </p:txBody>
      </p:sp>
      <p:sp>
        <p:nvSpPr>
          <p:cNvPr id="12" name="Text 10"/>
          <p:cNvSpPr txBox="1"/>
          <p:nvPr/>
        </p:nvSpPr>
        <p:spPr>
          <a:xfrm>
            <a:off x="2194560" y="2926080"/>
            <a:ext cx="2514600" cy="960120"/>
          </a:xfrm>
          <a:prstGeom prst="rect">
            <a:avLst/>
          </a:prstGeom>
          <a:noFill/>
          <a:ln/>
        </p:spPr>
        <p:txBody>
          <a:bodyPr wrap="square" lIns="0" tIns="0" rIns="0" bIns="0" rtlCol="0" anchor="ctr"/>
          <a:lstStyle/>
          <a:p>
            <a:pPr indent="0" marL="0">
              <a:buNone/>
            </a:pPr>
            <a:r>
              <a:rPr lang="en-US" sz="1400" dirty="0">
                <a:solidFill>
                  <a:schemeClr val="tx1"/>
                </a:solidFill>
              </a:rPr>
              <a:t>course_id, course_name, faculty_name</a:t>
            </a:r>
            <a:endParaRPr lang="en-US" sz="1400" dirty="0"/>
          </a:p>
        </p:txBody>
      </p:sp>
      <p:sp>
        <p:nvSpPr>
          <p:cNvPr id="13" name="Text 11"/>
          <p:cNvSpPr txBox="1"/>
          <p:nvPr/>
        </p:nvSpPr>
        <p:spPr>
          <a:xfrm>
            <a:off x="4983480" y="2926080"/>
            <a:ext cx="2057400" cy="960120"/>
          </a:xfrm>
          <a:prstGeom prst="rect">
            <a:avLst/>
          </a:prstGeom>
          <a:noFill/>
          <a:ln/>
        </p:spPr>
        <p:txBody>
          <a:bodyPr wrap="square" lIns="0" tIns="0" rIns="0" bIns="0" rtlCol="0" anchor="ctr"/>
          <a:lstStyle/>
          <a:p>
            <a:pPr indent="0" marL="0">
              <a:buNone/>
            </a:pPr>
            <a:r>
              <a:rPr lang="en-US" sz="1400" dirty="0">
                <a:solidFill>
                  <a:schemeClr val="tx1"/>
                </a:solidFill>
              </a:rPr>
              <a:t>Courses open for feedback</a:t>
            </a:r>
            <a:endParaRPr lang="en-US" sz="1400" dirty="0"/>
          </a:p>
        </p:txBody>
      </p:sp>
      <p:sp>
        <p:nvSpPr>
          <p:cNvPr id="14" name="DB row feedback"/>
          <p:cNvSpPr/>
          <p:nvPr/>
        </p:nvSpPr>
        <p:spPr>
          <a:xfrm>
            <a:off x="548640" y="3977640"/>
            <a:ext cx="6583680" cy="960120"/>
          </a:xfrm>
          <a:prstGeom prst="roundRect">
            <a:avLst>
              <a:gd name="adj" fmla="val 7619"/>
            </a:avLst>
          </a:prstGeom>
          <a:solidFill>
            <a:schemeClr val="bg2"/>
          </a:solidFill>
          <a:ln w="12700">
            <a:solidFill>
              <a:schemeClr val="bg2"/>
            </a:solidFill>
            <a:prstDash val="solid"/>
          </a:ln>
        </p:spPr>
      </p:sp>
      <p:sp>
        <p:nvSpPr>
          <p:cNvPr id="15" name="Text 13"/>
          <p:cNvSpPr txBox="1"/>
          <p:nvPr/>
        </p:nvSpPr>
        <p:spPr>
          <a:xfrm>
            <a:off x="731520" y="3977640"/>
            <a:ext cx="1188720" cy="960120"/>
          </a:xfrm>
          <a:prstGeom prst="rect">
            <a:avLst/>
          </a:prstGeom>
          <a:noFill/>
          <a:ln/>
        </p:spPr>
        <p:txBody>
          <a:bodyPr wrap="square" lIns="0" tIns="0" rIns="0" bIns="0" rtlCol="0" anchor="ctr"/>
          <a:lstStyle/>
          <a:p>
            <a:pPr indent="0" marL="0">
              <a:buNone/>
            </a:pPr>
            <a:r>
              <a:rPr lang="en-US" sz="1600" b="1" dirty="0">
                <a:solidFill>
                  <a:schemeClr val="accent1"/>
                </a:solidFill>
                <a:latin typeface="Consolas" pitchFamily="34" charset="0"/>
                <a:ea typeface="Consolas" pitchFamily="34" charset="-122"/>
                <a:cs typeface="Consolas" pitchFamily="34" charset="-120"/>
              </a:rPr>
              <a:t>feedback</a:t>
            </a:r>
            <a:endParaRPr lang="en-US" sz="1600" dirty="0"/>
          </a:p>
        </p:txBody>
      </p:sp>
      <p:sp>
        <p:nvSpPr>
          <p:cNvPr id="16" name="Text 14"/>
          <p:cNvSpPr txBox="1"/>
          <p:nvPr/>
        </p:nvSpPr>
        <p:spPr>
          <a:xfrm>
            <a:off x="2194560" y="3977640"/>
            <a:ext cx="2514600" cy="960120"/>
          </a:xfrm>
          <a:prstGeom prst="rect">
            <a:avLst/>
          </a:prstGeom>
          <a:noFill/>
          <a:ln/>
        </p:spPr>
        <p:txBody>
          <a:bodyPr wrap="square" lIns="0" tIns="0" rIns="0" bIns="0" rtlCol="0" anchor="ctr"/>
          <a:lstStyle/>
          <a:p>
            <a:pPr indent="0" marL="0">
              <a:buNone/>
            </a:pPr>
            <a:r>
              <a:rPr lang="en-US" sz="1400" dirty="0">
                <a:solidFill>
                  <a:schemeClr val="tx1"/>
                </a:solidFill>
              </a:rPr>
              <a:t>feedback_id, student_id, course_id, rating, comment</a:t>
            </a:r>
            <a:endParaRPr lang="en-US" sz="1400" dirty="0"/>
          </a:p>
        </p:txBody>
      </p:sp>
      <p:sp>
        <p:nvSpPr>
          <p:cNvPr id="17" name="Text 15"/>
          <p:cNvSpPr txBox="1"/>
          <p:nvPr/>
        </p:nvSpPr>
        <p:spPr>
          <a:xfrm>
            <a:off x="4983480" y="3977640"/>
            <a:ext cx="2057400" cy="960120"/>
          </a:xfrm>
          <a:prstGeom prst="rect">
            <a:avLst/>
          </a:prstGeom>
          <a:noFill/>
          <a:ln/>
        </p:spPr>
        <p:txBody>
          <a:bodyPr wrap="square" lIns="0" tIns="0" rIns="0" bIns="0" rtlCol="0" anchor="ctr"/>
          <a:lstStyle/>
          <a:p>
            <a:pPr indent="0" marL="0">
              <a:buNone/>
            </a:pPr>
            <a:r>
              <a:rPr lang="en-US" sz="1400" dirty="0">
                <a:solidFill>
                  <a:schemeClr val="tx1"/>
                </a:solidFill>
              </a:rPr>
              <a:t>Submitted responses</a:t>
            </a:r>
            <a:endParaRPr lang="en-US" sz="1400" dirty="0"/>
          </a:p>
        </p:txBody>
      </p:sp>
      <p:sp>
        <p:nvSpPr>
          <p:cNvPr id="18" name="DB row admins"/>
          <p:cNvSpPr/>
          <p:nvPr/>
        </p:nvSpPr>
        <p:spPr>
          <a:xfrm>
            <a:off x="548640" y="5029200"/>
            <a:ext cx="6583680" cy="960120"/>
          </a:xfrm>
          <a:prstGeom prst="roundRect">
            <a:avLst>
              <a:gd name="adj" fmla="val 7619"/>
            </a:avLst>
          </a:prstGeom>
          <a:solidFill>
            <a:schemeClr val="bg2"/>
          </a:solidFill>
          <a:ln w="12700">
            <a:solidFill>
              <a:schemeClr val="bg2"/>
            </a:solidFill>
            <a:prstDash val="solid"/>
          </a:ln>
        </p:spPr>
      </p:sp>
      <p:sp>
        <p:nvSpPr>
          <p:cNvPr id="19" name="Text 17"/>
          <p:cNvSpPr txBox="1"/>
          <p:nvPr/>
        </p:nvSpPr>
        <p:spPr>
          <a:xfrm>
            <a:off x="731520" y="5029200"/>
            <a:ext cx="1188720" cy="960120"/>
          </a:xfrm>
          <a:prstGeom prst="rect">
            <a:avLst/>
          </a:prstGeom>
          <a:noFill/>
          <a:ln/>
        </p:spPr>
        <p:txBody>
          <a:bodyPr wrap="square" lIns="0" tIns="0" rIns="0" bIns="0" rtlCol="0" anchor="ctr"/>
          <a:lstStyle/>
          <a:p>
            <a:pPr indent="0" marL="0">
              <a:buNone/>
            </a:pPr>
            <a:r>
              <a:rPr lang="en-US" sz="1600" b="1" dirty="0">
                <a:solidFill>
                  <a:schemeClr val="accent1"/>
                </a:solidFill>
                <a:latin typeface="Consolas" pitchFamily="34" charset="0"/>
                <a:ea typeface="Consolas" pitchFamily="34" charset="-122"/>
                <a:cs typeface="Consolas" pitchFamily="34" charset="-120"/>
              </a:rPr>
              <a:t>admins</a:t>
            </a:r>
            <a:endParaRPr lang="en-US" sz="1600" dirty="0"/>
          </a:p>
        </p:txBody>
      </p:sp>
      <p:sp>
        <p:nvSpPr>
          <p:cNvPr id="20" name="Text 18"/>
          <p:cNvSpPr txBox="1"/>
          <p:nvPr/>
        </p:nvSpPr>
        <p:spPr>
          <a:xfrm>
            <a:off x="2194560" y="5029200"/>
            <a:ext cx="2514600" cy="960120"/>
          </a:xfrm>
          <a:prstGeom prst="rect">
            <a:avLst/>
          </a:prstGeom>
          <a:noFill/>
          <a:ln/>
        </p:spPr>
        <p:txBody>
          <a:bodyPr wrap="square" lIns="0" tIns="0" rIns="0" bIns="0" rtlCol="0" anchor="ctr"/>
          <a:lstStyle/>
          <a:p>
            <a:pPr indent="0" marL="0">
              <a:buNone/>
            </a:pPr>
            <a:r>
              <a:rPr lang="en-US" sz="1400" dirty="0">
                <a:solidFill>
                  <a:schemeClr val="tx1"/>
                </a:solidFill>
              </a:rPr>
              <a:t>admin_id, username, password_hash</a:t>
            </a:r>
            <a:endParaRPr lang="en-US" sz="1400" dirty="0"/>
          </a:p>
        </p:txBody>
      </p:sp>
      <p:sp>
        <p:nvSpPr>
          <p:cNvPr id="21" name="Text 19"/>
          <p:cNvSpPr txBox="1"/>
          <p:nvPr/>
        </p:nvSpPr>
        <p:spPr>
          <a:xfrm>
            <a:off x="4983480" y="5029200"/>
            <a:ext cx="2057400" cy="960120"/>
          </a:xfrm>
          <a:prstGeom prst="rect">
            <a:avLst/>
          </a:prstGeom>
          <a:noFill/>
          <a:ln/>
        </p:spPr>
        <p:txBody>
          <a:bodyPr wrap="square" lIns="0" tIns="0" rIns="0" bIns="0" rtlCol="0" anchor="ctr"/>
          <a:lstStyle/>
          <a:p>
            <a:pPr indent="0" marL="0">
              <a:buNone/>
            </a:pPr>
            <a:r>
              <a:rPr lang="en-US" sz="1400" dirty="0">
                <a:solidFill>
                  <a:schemeClr val="tx1"/>
                </a:solidFill>
              </a:rPr>
              <a:t>Administrator accounts</a:t>
            </a:r>
            <a:endParaRPr lang="en-US" sz="1400" dirty="0"/>
          </a:p>
        </p:txBody>
      </p:sp>
      <p:sp>
        <p:nvSpPr>
          <p:cNvPr id="22" name="Modules card"/>
          <p:cNvSpPr/>
          <p:nvPr/>
        </p:nvSpPr>
        <p:spPr>
          <a:xfrm>
            <a:off x="7360920" y="1463040"/>
            <a:ext cx="4279392" cy="4663440"/>
          </a:xfrm>
          <a:prstGeom prst="roundRect">
            <a:avLst>
              <a:gd name="adj" fmla="val 1709"/>
            </a:avLst>
          </a:prstGeom>
          <a:solidFill>
            <a:schemeClr val="tx2"/>
          </a:solidFill>
          <a:ln w="12700">
            <a:solidFill>
              <a:schemeClr val="tx2"/>
            </a:solidFill>
            <a:prstDash val="solid"/>
          </a:ln>
        </p:spPr>
      </p:sp>
      <p:sp>
        <p:nvSpPr>
          <p:cNvPr id="23" name="Text 21"/>
          <p:cNvSpPr txBox="1"/>
          <p:nvPr/>
        </p:nvSpPr>
        <p:spPr>
          <a:xfrm>
            <a:off x="7680960" y="1691640"/>
            <a:ext cx="3657600" cy="41148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Application modules</a:t>
            </a:r>
            <a:endParaRPr lang="en-US" sz="2000" dirty="0"/>
          </a:p>
        </p:txBody>
      </p:sp>
      <p:sp>
        <p:nvSpPr>
          <p:cNvPr id="24" name="Text 22"/>
          <p:cNvSpPr txBox="1"/>
          <p:nvPr/>
        </p:nvSpPr>
        <p:spPr>
          <a:xfrm>
            <a:off x="7680960" y="2240280"/>
            <a:ext cx="3749040" cy="3749040"/>
          </a:xfrm>
          <a:prstGeom prst="rect">
            <a:avLst/>
          </a:prstGeom>
          <a:noFill/>
          <a:ln/>
        </p:spPr>
        <p:txBody>
          <a:bodyPr wrap="square" lIns="0" tIns="0" rIns="0" bIns="0" rtlCol="0" anchor="t"/>
          <a:lstStyle/>
          <a:p>
            <a:pPr indent="0" marL="0">
              <a:buNone/>
            </a:pPr>
            <a:r>
              <a:rPr lang="en-US" sz="1500" b="1" dirty="0">
                <a:solidFill>
                  <a:schemeClr val="bg1"/>
                </a:solidFill>
              </a:rPr>
              <a:t>Authentication</a:t>
            </a:r>
            <a:endParaRPr lang="en-US" sz="1500" dirty="0"/>
          </a:p>
          <a:p>
            <a:pPr indent="0" marL="0">
              <a:spcAft>
                <a:spcPts val="400"/>
              </a:spcAft>
              <a:buNone/>
            </a:pPr>
            <a:r>
              <a:rPr lang="en-US" sz="1300" dirty="0">
                <a:solidFill>
                  <a:schemeClr val="accent5"/>
                </a:solidFill>
              </a:rPr>
              <a:t>Login and role check</a:t>
            </a:r>
            <a:endParaRPr lang="en-US" sz="1500" dirty="0"/>
          </a:p>
          <a:p>
            <a:pPr indent="0" marL="0">
              <a:buNone/>
            </a:pPr>
            <a:r>
              <a:rPr lang="en-US" sz="1500" b="1" dirty="0">
                <a:solidFill>
                  <a:schemeClr val="bg1"/>
                </a:solidFill>
              </a:rPr>
              <a:t>Student dashboard</a:t>
            </a:r>
            <a:endParaRPr lang="en-US" sz="1500" dirty="0"/>
          </a:p>
          <a:p>
            <a:pPr indent="0" marL="0">
              <a:spcAft>
                <a:spcPts val="400"/>
              </a:spcAft>
              <a:buNone/>
            </a:pPr>
            <a:r>
              <a:rPr lang="en-US" sz="1300" dirty="0">
                <a:solidFill>
                  <a:schemeClr val="accent5"/>
                </a:solidFill>
              </a:rPr>
              <a:t>Navigation and status</a:t>
            </a:r>
            <a:endParaRPr lang="en-US" sz="1500" dirty="0"/>
          </a:p>
          <a:p>
            <a:pPr indent="0" marL="0">
              <a:buNone/>
            </a:pPr>
            <a:r>
              <a:rPr lang="en-US" sz="1500" b="1" dirty="0">
                <a:solidFill>
                  <a:schemeClr val="bg1"/>
                </a:solidFill>
              </a:rPr>
              <a:t>Feedback form</a:t>
            </a:r>
            <a:endParaRPr lang="en-US" sz="1500" dirty="0"/>
          </a:p>
          <a:p>
            <a:pPr indent="0" marL="0">
              <a:spcAft>
                <a:spcPts val="400"/>
              </a:spcAft>
              <a:buNone/>
            </a:pPr>
            <a:r>
              <a:rPr lang="en-US" sz="1300" dirty="0">
                <a:solidFill>
                  <a:schemeClr val="accent5"/>
                </a:solidFill>
              </a:rPr>
              <a:t>Questions, ratings, comments</a:t>
            </a:r>
            <a:endParaRPr lang="en-US" sz="1500" dirty="0"/>
          </a:p>
          <a:p>
            <a:pPr indent="0" marL="0">
              <a:buNone/>
            </a:pPr>
            <a:r>
              <a:rPr lang="en-US" sz="1500" b="1" dirty="0">
                <a:solidFill>
                  <a:schemeClr val="bg1"/>
                </a:solidFill>
              </a:rPr>
              <a:t>Validation</a:t>
            </a:r>
            <a:endParaRPr lang="en-US" sz="1500" dirty="0"/>
          </a:p>
          <a:p>
            <a:pPr indent="0" marL="0">
              <a:spcAft>
                <a:spcPts val="400"/>
              </a:spcAft>
              <a:buNone/>
            </a:pPr>
            <a:r>
              <a:rPr lang="en-US" sz="1300" dirty="0">
                <a:solidFill>
                  <a:schemeClr val="accent5"/>
                </a:solidFill>
              </a:rPr>
              <a:t>Required fields, rating range</a:t>
            </a:r>
            <a:endParaRPr lang="en-US" sz="1500" dirty="0"/>
          </a:p>
          <a:p>
            <a:pPr indent="0" marL="0">
              <a:buNone/>
            </a:pPr>
            <a:r>
              <a:rPr lang="en-US" sz="1500" b="1" dirty="0">
                <a:solidFill>
                  <a:schemeClr val="bg1"/>
                </a:solidFill>
              </a:rPr>
              <a:t>Database layer</a:t>
            </a:r>
            <a:endParaRPr lang="en-US" sz="1500" dirty="0"/>
          </a:p>
          <a:p>
            <a:pPr indent="0" marL="0">
              <a:spcAft>
                <a:spcPts val="400"/>
              </a:spcAft>
              <a:buNone/>
            </a:pPr>
            <a:r>
              <a:rPr lang="en-US" sz="1300" dirty="0">
                <a:solidFill>
                  <a:schemeClr val="accent5"/>
                </a:solidFill>
              </a:rPr>
              <a:t>Create, insert, select, aggregate</a:t>
            </a:r>
            <a:endParaRPr lang="en-US" sz="1500" dirty="0"/>
          </a:p>
          <a:p>
            <a:pPr indent="0" marL="0">
              <a:buNone/>
            </a:pPr>
            <a:r>
              <a:rPr lang="en-US" sz="1500" b="1" dirty="0">
                <a:solidFill>
                  <a:schemeClr val="bg1"/>
                </a:solidFill>
              </a:rPr>
              <a:t>Admin dashboard</a:t>
            </a:r>
            <a:endParaRPr lang="en-US" sz="1500" dirty="0"/>
          </a:p>
          <a:p>
            <a:pPr indent="0" marL="0">
              <a:spcAft>
                <a:spcPts val="400"/>
              </a:spcAft>
              <a:buNone/>
            </a:pPr>
            <a:r>
              <a:rPr lang="en-US" sz="1300" dirty="0">
                <a:solidFill>
                  <a:schemeClr val="accent5"/>
                </a:solidFill>
              </a:rPr>
              <a:t>Response counts and averages</a:t>
            </a:r>
            <a:endParaRPr lang="en-US" sz="1500" dirty="0"/>
          </a:p>
          <a:p>
            <a:pPr indent="0" marL="0">
              <a:buNone/>
            </a:pPr>
            <a:r>
              <a:rPr lang="en-US" sz="1500" b="1" dirty="0">
                <a:solidFill>
                  <a:schemeClr val="bg1"/>
                </a:solidFill>
              </a:rPr>
              <a:t>Reporting</a:t>
            </a:r>
            <a:endParaRPr lang="en-US" sz="1500" dirty="0"/>
          </a:p>
          <a:p>
            <a:pPr indent="0" marL="0">
              <a:spcAft>
                <a:spcPts val="400"/>
              </a:spcAft>
              <a:buNone/>
            </a:pPr>
            <a:r>
              <a:rPr lang="en-US" sz="1300" dirty="0">
                <a:solidFill>
                  <a:schemeClr val="accent5"/>
                </a:solidFill>
              </a:rPr>
              <a:t>Summaries for review</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Tools and Requirements</a:t>
            </a:r>
            <a:endParaRPr lang="en-US" sz="3000" dirty="0"/>
          </a:p>
        </p:txBody>
      </p:sp>
      <p:sp>
        <p:nvSpPr>
          <p:cNvPr id="3" name="Tool Python 3.10+"/>
          <p:cNvSpPr/>
          <p:nvPr/>
        </p:nvSpPr>
        <p:spPr>
          <a:xfrm>
            <a:off x="548640" y="1463040"/>
            <a:ext cx="3319272" cy="1042416"/>
          </a:xfrm>
          <a:prstGeom prst="roundRect">
            <a:avLst>
              <a:gd name="adj" fmla="val 7018"/>
            </a:avLst>
          </a:prstGeom>
          <a:solidFill>
            <a:schemeClr val="bg2"/>
          </a:solidFill>
          <a:ln w="12700">
            <a:solidFill>
              <a:schemeClr val="bg2"/>
            </a:solidFill>
            <a:prstDash val="solid"/>
          </a:ln>
        </p:spPr>
      </p:sp>
      <p:sp>
        <p:nvSpPr>
          <p:cNvPr id="4" name="Shape 2"/>
          <p:cNvSpPr/>
          <p:nvPr/>
        </p:nvSpPr>
        <p:spPr>
          <a:xfrm>
            <a:off x="548640" y="1645920"/>
            <a:ext cx="64008" cy="676656"/>
          </a:xfrm>
          <a:prstGeom prst="rect">
            <a:avLst/>
          </a:prstGeom>
          <a:solidFill>
            <a:schemeClr val="accent1"/>
          </a:solidFill>
          <a:ln w="12700">
            <a:solidFill>
              <a:schemeClr val="accent1"/>
            </a:solidFill>
            <a:prstDash val="solid"/>
          </a:ln>
        </p:spPr>
      </p:sp>
      <p:sp>
        <p:nvSpPr>
          <p:cNvPr id="5" name="Text 3"/>
          <p:cNvSpPr txBox="1"/>
          <p:nvPr/>
        </p:nvSpPr>
        <p:spPr>
          <a:xfrm>
            <a:off x="822960" y="1645920"/>
            <a:ext cx="2926080" cy="365760"/>
          </a:xfrm>
          <a:prstGeom prst="rect">
            <a:avLst/>
          </a:prstGeom>
          <a:noFill/>
          <a:ln/>
        </p:spPr>
        <p:txBody>
          <a:bodyPr wrap="square" lIns="0" tIns="0" rIns="0" bIns="0" rtlCol="0" anchor="t"/>
          <a:lstStyle/>
          <a:p>
            <a:pPr indent="0" marL="0">
              <a:buNone/>
            </a:pPr>
            <a:r>
              <a:rPr lang="en-US" sz="1700" b="1" dirty="0">
                <a:solidFill>
                  <a:schemeClr val="tx2"/>
                </a:solidFill>
              </a:rPr>
              <a:t>Python 3.10+</a:t>
            </a:r>
            <a:endParaRPr lang="en-US" sz="1700" dirty="0"/>
          </a:p>
        </p:txBody>
      </p:sp>
      <p:sp>
        <p:nvSpPr>
          <p:cNvPr id="6" name="Text 4"/>
          <p:cNvSpPr txBox="1"/>
          <p:nvPr/>
        </p:nvSpPr>
        <p:spPr>
          <a:xfrm>
            <a:off x="822960" y="2029968"/>
            <a:ext cx="2926080" cy="320040"/>
          </a:xfrm>
          <a:prstGeom prst="rect">
            <a:avLst/>
          </a:prstGeom>
          <a:noFill/>
          <a:ln/>
        </p:spPr>
        <p:txBody>
          <a:bodyPr wrap="square" lIns="0" tIns="0" rIns="0" bIns="0" rtlCol="0" anchor="t"/>
          <a:lstStyle/>
          <a:p>
            <a:pPr indent="0" marL="0">
              <a:buNone/>
            </a:pPr>
            <a:r>
              <a:rPr lang="en-US" sz="1400" dirty="0">
                <a:solidFill>
                  <a:schemeClr val="accent4"/>
                </a:solidFill>
              </a:rPr>
              <a:t>Programming language</a:t>
            </a:r>
            <a:endParaRPr lang="en-US" sz="1400" dirty="0"/>
          </a:p>
        </p:txBody>
      </p:sp>
      <p:sp>
        <p:nvSpPr>
          <p:cNvPr id="7" name="Tool Tkinter"/>
          <p:cNvSpPr/>
          <p:nvPr/>
        </p:nvSpPr>
        <p:spPr>
          <a:xfrm>
            <a:off x="4005072" y="1463040"/>
            <a:ext cx="3319272" cy="1042416"/>
          </a:xfrm>
          <a:prstGeom prst="roundRect">
            <a:avLst>
              <a:gd name="adj" fmla="val 7018"/>
            </a:avLst>
          </a:prstGeom>
          <a:solidFill>
            <a:schemeClr val="bg2"/>
          </a:solidFill>
          <a:ln w="12700">
            <a:solidFill>
              <a:schemeClr val="bg2"/>
            </a:solidFill>
            <a:prstDash val="solid"/>
          </a:ln>
        </p:spPr>
      </p:sp>
      <p:sp>
        <p:nvSpPr>
          <p:cNvPr id="8" name="Shape 6"/>
          <p:cNvSpPr/>
          <p:nvPr/>
        </p:nvSpPr>
        <p:spPr>
          <a:xfrm>
            <a:off x="4005072" y="1645920"/>
            <a:ext cx="64008" cy="676656"/>
          </a:xfrm>
          <a:prstGeom prst="rect">
            <a:avLst/>
          </a:prstGeom>
          <a:solidFill>
            <a:schemeClr val="accent1"/>
          </a:solidFill>
          <a:ln w="12700">
            <a:solidFill>
              <a:schemeClr val="accent1"/>
            </a:solidFill>
            <a:prstDash val="solid"/>
          </a:ln>
        </p:spPr>
      </p:sp>
      <p:sp>
        <p:nvSpPr>
          <p:cNvPr id="9" name="Text 7"/>
          <p:cNvSpPr txBox="1"/>
          <p:nvPr/>
        </p:nvSpPr>
        <p:spPr>
          <a:xfrm>
            <a:off x="4279392" y="1645920"/>
            <a:ext cx="2926080" cy="365760"/>
          </a:xfrm>
          <a:prstGeom prst="rect">
            <a:avLst/>
          </a:prstGeom>
          <a:noFill/>
          <a:ln/>
        </p:spPr>
        <p:txBody>
          <a:bodyPr wrap="square" lIns="0" tIns="0" rIns="0" bIns="0" rtlCol="0" anchor="t"/>
          <a:lstStyle/>
          <a:p>
            <a:pPr indent="0" marL="0">
              <a:buNone/>
            </a:pPr>
            <a:r>
              <a:rPr lang="en-US" sz="1700" b="1" dirty="0">
                <a:solidFill>
                  <a:schemeClr val="tx2"/>
                </a:solidFill>
              </a:rPr>
              <a:t>Tkinter</a:t>
            </a:r>
            <a:endParaRPr lang="en-US" sz="1700" dirty="0"/>
          </a:p>
        </p:txBody>
      </p:sp>
      <p:sp>
        <p:nvSpPr>
          <p:cNvPr id="10" name="Text 8"/>
          <p:cNvSpPr txBox="1"/>
          <p:nvPr/>
        </p:nvSpPr>
        <p:spPr>
          <a:xfrm>
            <a:off x="4279392" y="2029968"/>
            <a:ext cx="2926080" cy="320040"/>
          </a:xfrm>
          <a:prstGeom prst="rect">
            <a:avLst/>
          </a:prstGeom>
          <a:noFill/>
          <a:ln/>
        </p:spPr>
        <p:txBody>
          <a:bodyPr wrap="square" lIns="0" tIns="0" rIns="0" bIns="0" rtlCol="0" anchor="t"/>
          <a:lstStyle/>
          <a:p>
            <a:pPr indent="0" marL="0">
              <a:buNone/>
            </a:pPr>
            <a:r>
              <a:rPr lang="en-US" sz="1400" dirty="0">
                <a:solidFill>
                  <a:schemeClr val="accent4"/>
                </a:solidFill>
              </a:rPr>
              <a:t>GUI toolkit</a:t>
            </a:r>
            <a:endParaRPr lang="en-US" sz="1400" dirty="0"/>
          </a:p>
        </p:txBody>
      </p:sp>
      <p:sp>
        <p:nvSpPr>
          <p:cNvPr id="11" name="Tool SQLite (sqlite3)"/>
          <p:cNvSpPr/>
          <p:nvPr/>
        </p:nvSpPr>
        <p:spPr>
          <a:xfrm>
            <a:off x="548640" y="2633472"/>
            <a:ext cx="3319272" cy="1042416"/>
          </a:xfrm>
          <a:prstGeom prst="roundRect">
            <a:avLst>
              <a:gd name="adj" fmla="val 7018"/>
            </a:avLst>
          </a:prstGeom>
          <a:solidFill>
            <a:schemeClr val="bg2"/>
          </a:solidFill>
          <a:ln w="12700">
            <a:solidFill>
              <a:schemeClr val="bg2"/>
            </a:solidFill>
            <a:prstDash val="solid"/>
          </a:ln>
        </p:spPr>
      </p:sp>
      <p:sp>
        <p:nvSpPr>
          <p:cNvPr id="12" name="Shape 10"/>
          <p:cNvSpPr/>
          <p:nvPr/>
        </p:nvSpPr>
        <p:spPr>
          <a:xfrm>
            <a:off x="548640" y="2816352"/>
            <a:ext cx="64008" cy="676656"/>
          </a:xfrm>
          <a:prstGeom prst="rect">
            <a:avLst/>
          </a:prstGeom>
          <a:solidFill>
            <a:schemeClr val="accent1"/>
          </a:solidFill>
          <a:ln w="12700">
            <a:solidFill>
              <a:schemeClr val="accent1"/>
            </a:solidFill>
            <a:prstDash val="solid"/>
          </a:ln>
        </p:spPr>
      </p:sp>
      <p:sp>
        <p:nvSpPr>
          <p:cNvPr id="13" name="Text 11"/>
          <p:cNvSpPr txBox="1"/>
          <p:nvPr/>
        </p:nvSpPr>
        <p:spPr>
          <a:xfrm>
            <a:off x="822960" y="2816352"/>
            <a:ext cx="2926080" cy="365760"/>
          </a:xfrm>
          <a:prstGeom prst="rect">
            <a:avLst/>
          </a:prstGeom>
          <a:noFill/>
          <a:ln/>
        </p:spPr>
        <p:txBody>
          <a:bodyPr wrap="square" lIns="0" tIns="0" rIns="0" bIns="0" rtlCol="0" anchor="t"/>
          <a:lstStyle/>
          <a:p>
            <a:pPr indent="0" marL="0">
              <a:buNone/>
            </a:pPr>
            <a:r>
              <a:rPr lang="en-US" sz="1700" b="1" dirty="0">
                <a:solidFill>
                  <a:schemeClr val="tx2"/>
                </a:solidFill>
              </a:rPr>
              <a:t>SQLite (sqlite3)</a:t>
            </a:r>
            <a:endParaRPr lang="en-US" sz="1700" dirty="0"/>
          </a:p>
        </p:txBody>
      </p:sp>
      <p:sp>
        <p:nvSpPr>
          <p:cNvPr id="14" name="Text 12"/>
          <p:cNvSpPr txBox="1"/>
          <p:nvPr/>
        </p:nvSpPr>
        <p:spPr>
          <a:xfrm>
            <a:off x="822960" y="3200400"/>
            <a:ext cx="2926080" cy="320040"/>
          </a:xfrm>
          <a:prstGeom prst="rect">
            <a:avLst/>
          </a:prstGeom>
          <a:noFill/>
          <a:ln/>
        </p:spPr>
        <p:txBody>
          <a:bodyPr wrap="square" lIns="0" tIns="0" rIns="0" bIns="0" rtlCol="0" anchor="t"/>
          <a:lstStyle/>
          <a:p>
            <a:pPr indent="0" marL="0">
              <a:buNone/>
            </a:pPr>
            <a:r>
              <a:rPr lang="en-US" sz="1400" dirty="0">
                <a:solidFill>
                  <a:schemeClr val="accent4"/>
                </a:solidFill>
              </a:rPr>
              <a:t>Local database</a:t>
            </a:r>
            <a:endParaRPr lang="en-US" sz="1400" dirty="0"/>
          </a:p>
        </p:txBody>
      </p:sp>
      <p:sp>
        <p:nvSpPr>
          <p:cNvPr id="15" name="Tool Pandas"/>
          <p:cNvSpPr/>
          <p:nvPr/>
        </p:nvSpPr>
        <p:spPr>
          <a:xfrm>
            <a:off x="4005072" y="2633472"/>
            <a:ext cx="3319272" cy="1042416"/>
          </a:xfrm>
          <a:prstGeom prst="roundRect">
            <a:avLst>
              <a:gd name="adj" fmla="val 7018"/>
            </a:avLst>
          </a:prstGeom>
          <a:solidFill>
            <a:schemeClr val="bg2"/>
          </a:solidFill>
          <a:ln w="12700">
            <a:solidFill>
              <a:schemeClr val="bg2"/>
            </a:solidFill>
            <a:prstDash val="solid"/>
          </a:ln>
        </p:spPr>
      </p:sp>
      <p:sp>
        <p:nvSpPr>
          <p:cNvPr id="16" name="Shape 14"/>
          <p:cNvSpPr/>
          <p:nvPr/>
        </p:nvSpPr>
        <p:spPr>
          <a:xfrm>
            <a:off x="4005072" y="2816352"/>
            <a:ext cx="64008" cy="676656"/>
          </a:xfrm>
          <a:prstGeom prst="rect">
            <a:avLst/>
          </a:prstGeom>
          <a:solidFill>
            <a:schemeClr val="accent1"/>
          </a:solidFill>
          <a:ln w="12700">
            <a:solidFill>
              <a:schemeClr val="accent1"/>
            </a:solidFill>
            <a:prstDash val="solid"/>
          </a:ln>
        </p:spPr>
      </p:sp>
      <p:sp>
        <p:nvSpPr>
          <p:cNvPr id="17" name="Text 15"/>
          <p:cNvSpPr txBox="1"/>
          <p:nvPr/>
        </p:nvSpPr>
        <p:spPr>
          <a:xfrm>
            <a:off x="4279392" y="2816352"/>
            <a:ext cx="2926080" cy="365760"/>
          </a:xfrm>
          <a:prstGeom prst="rect">
            <a:avLst/>
          </a:prstGeom>
          <a:noFill/>
          <a:ln/>
        </p:spPr>
        <p:txBody>
          <a:bodyPr wrap="square" lIns="0" tIns="0" rIns="0" bIns="0" rtlCol="0" anchor="t"/>
          <a:lstStyle/>
          <a:p>
            <a:pPr indent="0" marL="0">
              <a:buNone/>
            </a:pPr>
            <a:r>
              <a:rPr lang="en-US" sz="1700" b="1" dirty="0">
                <a:solidFill>
                  <a:schemeClr val="tx2"/>
                </a:solidFill>
              </a:rPr>
              <a:t>Pandas</a:t>
            </a:r>
            <a:endParaRPr lang="en-US" sz="1700" dirty="0"/>
          </a:p>
        </p:txBody>
      </p:sp>
      <p:sp>
        <p:nvSpPr>
          <p:cNvPr id="18" name="Text 16"/>
          <p:cNvSpPr txBox="1"/>
          <p:nvPr/>
        </p:nvSpPr>
        <p:spPr>
          <a:xfrm>
            <a:off x="4279392" y="3200400"/>
            <a:ext cx="2926080" cy="320040"/>
          </a:xfrm>
          <a:prstGeom prst="rect">
            <a:avLst/>
          </a:prstGeom>
          <a:noFill/>
          <a:ln/>
        </p:spPr>
        <p:txBody>
          <a:bodyPr wrap="square" lIns="0" tIns="0" rIns="0" bIns="0" rtlCol="0" anchor="t"/>
          <a:lstStyle/>
          <a:p>
            <a:pPr indent="0" marL="0">
              <a:buNone/>
            </a:pPr>
            <a:r>
              <a:rPr lang="en-US" sz="1400" dirty="0">
                <a:solidFill>
                  <a:schemeClr val="accent4"/>
                </a:solidFill>
              </a:rPr>
              <a:t>Data processing</a:t>
            </a:r>
            <a:endParaRPr lang="en-US" sz="1400" dirty="0"/>
          </a:p>
        </p:txBody>
      </p:sp>
      <p:sp>
        <p:nvSpPr>
          <p:cNvPr id="19" name="Tool Matplotlib"/>
          <p:cNvSpPr/>
          <p:nvPr/>
        </p:nvSpPr>
        <p:spPr>
          <a:xfrm>
            <a:off x="548640" y="3803904"/>
            <a:ext cx="3319272" cy="1042416"/>
          </a:xfrm>
          <a:prstGeom prst="roundRect">
            <a:avLst>
              <a:gd name="adj" fmla="val 7018"/>
            </a:avLst>
          </a:prstGeom>
          <a:solidFill>
            <a:schemeClr val="bg2"/>
          </a:solidFill>
          <a:ln w="12700">
            <a:solidFill>
              <a:schemeClr val="bg2"/>
            </a:solidFill>
            <a:prstDash val="solid"/>
          </a:ln>
        </p:spPr>
      </p:sp>
      <p:sp>
        <p:nvSpPr>
          <p:cNvPr id="20" name="Shape 18"/>
          <p:cNvSpPr/>
          <p:nvPr/>
        </p:nvSpPr>
        <p:spPr>
          <a:xfrm>
            <a:off x="548640" y="3986784"/>
            <a:ext cx="64008" cy="676656"/>
          </a:xfrm>
          <a:prstGeom prst="rect">
            <a:avLst/>
          </a:prstGeom>
          <a:solidFill>
            <a:schemeClr val="accent1"/>
          </a:solidFill>
          <a:ln w="12700">
            <a:solidFill>
              <a:schemeClr val="accent1"/>
            </a:solidFill>
            <a:prstDash val="solid"/>
          </a:ln>
        </p:spPr>
      </p:sp>
      <p:sp>
        <p:nvSpPr>
          <p:cNvPr id="21" name="Text 19"/>
          <p:cNvSpPr txBox="1"/>
          <p:nvPr/>
        </p:nvSpPr>
        <p:spPr>
          <a:xfrm>
            <a:off x="822960" y="3986784"/>
            <a:ext cx="2926080" cy="365760"/>
          </a:xfrm>
          <a:prstGeom prst="rect">
            <a:avLst/>
          </a:prstGeom>
          <a:noFill/>
          <a:ln/>
        </p:spPr>
        <p:txBody>
          <a:bodyPr wrap="square" lIns="0" tIns="0" rIns="0" bIns="0" rtlCol="0" anchor="t"/>
          <a:lstStyle/>
          <a:p>
            <a:pPr indent="0" marL="0">
              <a:buNone/>
            </a:pPr>
            <a:r>
              <a:rPr lang="en-US" sz="1700" b="1" dirty="0">
                <a:solidFill>
                  <a:schemeClr val="tx2"/>
                </a:solidFill>
              </a:rPr>
              <a:t>Matplotlib</a:t>
            </a:r>
            <a:endParaRPr lang="en-US" sz="1700" dirty="0"/>
          </a:p>
        </p:txBody>
      </p:sp>
      <p:sp>
        <p:nvSpPr>
          <p:cNvPr id="22" name="Text 20"/>
          <p:cNvSpPr txBox="1"/>
          <p:nvPr/>
        </p:nvSpPr>
        <p:spPr>
          <a:xfrm>
            <a:off x="822960" y="4370832"/>
            <a:ext cx="2926080" cy="320040"/>
          </a:xfrm>
          <a:prstGeom prst="rect">
            <a:avLst/>
          </a:prstGeom>
          <a:noFill/>
          <a:ln/>
        </p:spPr>
        <p:txBody>
          <a:bodyPr wrap="square" lIns="0" tIns="0" rIns="0" bIns="0" rtlCol="0" anchor="t"/>
          <a:lstStyle/>
          <a:p>
            <a:pPr indent="0" marL="0">
              <a:buNone/>
            </a:pPr>
            <a:r>
              <a:rPr lang="en-US" sz="1400" dirty="0">
                <a:solidFill>
                  <a:schemeClr val="accent4"/>
                </a:solidFill>
              </a:rPr>
              <a:t>Charts and graphs</a:t>
            </a:r>
            <a:endParaRPr lang="en-US" sz="1400" dirty="0"/>
          </a:p>
        </p:txBody>
      </p:sp>
      <p:sp>
        <p:nvSpPr>
          <p:cNvPr id="23" name="Tool VS Code / PyCharm"/>
          <p:cNvSpPr/>
          <p:nvPr/>
        </p:nvSpPr>
        <p:spPr>
          <a:xfrm>
            <a:off x="4005072" y="3803904"/>
            <a:ext cx="3319272" cy="1042416"/>
          </a:xfrm>
          <a:prstGeom prst="roundRect">
            <a:avLst>
              <a:gd name="adj" fmla="val 7018"/>
            </a:avLst>
          </a:prstGeom>
          <a:solidFill>
            <a:schemeClr val="bg2"/>
          </a:solidFill>
          <a:ln w="12700">
            <a:solidFill>
              <a:schemeClr val="bg2"/>
            </a:solidFill>
            <a:prstDash val="solid"/>
          </a:ln>
        </p:spPr>
      </p:sp>
      <p:sp>
        <p:nvSpPr>
          <p:cNvPr id="24" name="Shape 22"/>
          <p:cNvSpPr/>
          <p:nvPr/>
        </p:nvSpPr>
        <p:spPr>
          <a:xfrm>
            <a:off x="4005072" y="3986784"/>
            <a:ext cx="64008" cy="676656"/>
          </a:xfrm>
          <a:prstGeom prst="rect">
            <a:avLst/>
          </a:prstGeom>
          <a:solidFill>
            <a:schemeClr val="accent1"/>
          </a:solidFill>
          <a:ln w="12700">
            <a:solidFill>
              <a:schemeClr val="accent1"/>
            </a:solidFill>
            <a:prstDash val="solid"/>
          </a:ln>
        </p:spPr>
      </p:sp>
      <p:sp>
        <p:nvSpPr>
          <p:cNvPr id="25" name="Text 23"/>
          <p:cNvSpPr txBox="1"/>
          <p:nvPr/>
        </p:nvSpPr>
        <p:spPr>
          <a:xfrm>
            <a:off x="4279392" y="3986784"/>
            <a:ext cx="2926080" cy="365760"/>
          </a:xfrm>
          <a:prstGeom prst="rect">
            <a:avLst/>
          </a:prstGeom>
          <a:noFill/>
          <a:ln/>
        </p:spPr>
        <p:txBody>
          <a:bodyPr wrap="square" lIns="0" tIns="0" rIns="0" bIns="0" rtlCol="0" anchor="t"/>
          <a:lstStyle/>
          <a:p>
            <a:pPr indent="0" marL="0">
              <a:buNone/>
            </a:pPr>
            <a:r>
              <a:rPr lang="en-US" sz="1700" b="1" dirty="0">
                <a:solidFill>
                  <a:schemeClr val="tx2"/>
                </a:solidFill>
              </a:rPr>
              <a:t>VS Code / PyCharm</a:t>
            </a:r>
            <a:endParaRPr lang="en-US" sz="1700" dirty="0"/>
          </a:p>
        </p:txBody>
      </p:sp>
      <p:sp>
        <p:nvSpPr>
          <p:cNvPr id="26" name="Text 24"/>
          <p:cNvSpPr txBox="1"/>
          <p:nvPr/>
        </p:nvSpPr>
        <p:spPr>
          <a:xfrm>
            <a:off x="4279392" y="4370832"/>
            <a:ext cx="2926080" cy="320040"/>
          </a:xfrm>
          <a:prstGeom prst="rect">
            <a:avLst/>
          </a:prstGeom>
          <a:noFill/>
          <a:ln/>
        </p:spPr>
        <p:txBody>
          <a:bodyPr wrap="square" lIns="0" tIns="0" rIns="0" bIns="0" rtlCol="0" anchor="t"/>
          <a:lstStyle/>
          <a:p>
            <a:pPr indent="0" marL="0">
              <a:buNone/>
            </a:pPr>
            <a:r>
              <a:rPr lang="en-US" sz="1400" dirty="0">
                <a:solidFill>
                  <a:schemeClr val="accent4"/>
                </a:solidFill>
              </a:rPr>
              <a:t>Editor / IDE</a:t>
            </a:r>
            <a:endParaRPr lang="en-US" sz="1400" dirty="0"/>
          </a:p>
        </p:txBody>
      </p:sp>
      <p:sp>
        <p:nvSpPr>
          <p:cNvPr id="27" name="Tool DB Browser for SQLite"/>
          <p:cNvSpPr/>
          <p:nvPr/>
        </p:nvSpPr>
        <p:spPr>
          <a:xfrm>
            <a:off x="548640" y="4974336"/>
            <a:ext cx="3319272" cy="1042416"/>
          </a:xfrm>
          <a:prstGeom prst="roundRect">
            <a:avLst>
              <a:gd name="adj" fmla="val 7018"/>
            </a:avLst>
          </a:prstGeom>
          <a:solidFill>
            <a:schemeClr val="bg2"/>
          </a:solidFill>
          <a:ln w="12700">
            <a:solidFill>
              <a:schemeClr val="bg2"/>
            </a:solidFill>
            <a:prstDash val="solid"/>
          </a:ln>
        </p:spPr>
      </p:sp>
      <p:sp>
        <p:nvSpPr>
          <p:cNvPr id="28" name="Shape 26"/>
          <p:cNvSpPr/>
          <p:nvPr/>
        </p:nvSpPr>
        <p:spPr>
          <a:xfrm>
            <a:off x="548640" y="5157216"/>
            <a:ext cx="64008" cy="676656"/>
          </a:xfrm>
          <a:prstGeom prst="rect">
            <a:avLst/>
          </a:prstGeom>
          <a:solidFill>
            <a:schemeClr val="accent1"/>
          </a:solidFill>
          <a:ln w="12700">
            <a:solidFill>
              <a:schemeClr val="accent1"/>
            </a:solidFill>
            <a:prstDash val="solid"/>
          </a:ln>
        </p:spPr>
      </p:sp>
      <p:sp>
        <p:nvSpPr>
          <p:cNvPr id="29" name="Text 27"/>
          <p:cNvSpPr txBox="1"/>
          <p:nvPr/>
        </p:nvSpPr>
        <p:spPr>
          <a:xfrm>
            <a:off x="822960" y="5157216"/>
            <a:ext cx="2926080" cy="365760"/>
          </a:xfrm>
          <a:prstGeom prst="rect">
            <a:avLst/>
          </a:prstGeom>
          <a:noFill/>
          <a:ln/>
        </p:spPr>
        <p:txBody>
          <a:bodyPr wrap="square" lIns="0" tIns="0" rIns="0" bIns="0" rtlCol="0" anchor="t"/>
          <a:lstStyle/>
          <a:p>
            <a:pPr indent="0" marL="0">
              <a:buNone/>
            </a:pPr>
            <a:r>
              <a:rPr lang="en-US" sz="1700" b="1" dirty="0">
                <a:solidFill>
                  <a:schemeClr val="tx2"/>
                </a:solidFill>
              </a:rPr>
              <a:t>DB Browser for SQLite</a:t>
            </a:r>
            <a:endParaRPr lang="en-US" sz="1700" dirty="0"/>
          </a:p>
        </p:txBody>
      </p:sp>
      <p:sp>
        <p:nvSpPr>
          <p:cNvPr id="30" name="Text 28"/>
          <p:cNvSpPr txBox="1"/>
          <p:nvPr/>
        </p:nvSpPr>
        <p:spPr>
          <a:xfrm>
            <a:off x="822960" y="5541264"/>
            <a:ext cx="2926080" cy="320040"/>
          </a:xfrm>
          <a:prstGeom prst="rect">
            <a:avLst/>
          </a:prstGeom>
          <a:noFill/>
          <a:ln/>
        </p:spPr>
        <p:txBody>
          <a:bodyPr wrap="square" lIns="0" tIns="0" rIns="0" bIns="0" rtlCol="0" anchor="t"/>
          <a:lstStyle/>
          <a:p>
            <a:pPr indent="0" marL="0">
              <a:buNone/>
            </a:pPr>
            <a:r>
              <a:rPr lang="en-US" sz="1400" dirty="0">
                <a:solidFill>
                  <a:schemeClr val="accent4"/>
                </a:solidFill>
              </a:rPr>
              <a:t>Database inspection</a:t>
            </a:r>
            <a:endParaRPr lang="en-US" sz="1400" dirty="0"/>
          </a:p>
        </p:txBody>
      </p:sp>
      <p:sp>
        <p:nvSpPr>
          <p:cNvPr id="31" name="Tool Git"/>
          <p:cNvSpPr/>
          <p:nvPr/>
        </p:nvSpPr>
        <p:spPr>
          <a:xfrm>
            <a:off x="4005072" y="4974336"/>
            <a:ext cx="3319272" cy="1042416"/>
          </a:xfrm>
          <a:prstGeom prst="roundRect">
            <a:avLst>
              <a:gd name="adj" fmla="val 7018"/>
            </a:avLst>
          </a:prstGeom>
          <a:solidFill>
            <a:schemeClr val="bg2"/>
          </a:solidFill>
          <a:ln w="12700">
            <a:solidFill>
              <a:schemeClr val="bg2"/>
            </a:solidFill>
            <a:prstDash val="solid"/>
          </a:ln>
        </p:spPr>
      </p:sp>
      <p:sp>
        <p:nvSpPr>
          <p:cNvPr id="32" name="Shape 30"/>
          <p:cNvSpPr/>
          <p:nvPr/>
        </p:nvSpPr>
        <p:spPr>
          <a:xfrm>
            <a:off x="4005072" y="5157216"/>
            <a:ext cx="64008" cy="676656"/>
          </a:xfrm>
          <a:prstGeom prst="rect">
            <a:avLst/>
          </a:prstGeom>
          <a:solidFill>
            <a:schemeClr val="accent1"/>
          </a:solidFill>
          <a:ln w="12700">
            <a:solidFill>
              <a:schemeClr val="accent1"/>
            </a:solidFill>
            <a:prstDash val="solid"/>
          </a:ln>
        </p:spPr>
      </p:sp>
      <p:sp>
        <p:nvSpPr>
          <p:cNvPr id="33" name="Text 31"/>
          <p:cNvSpPr txBox="1"/>
          <p:nvPr/>
        </p:nvSpPr>
        <p:spPr>
          <a:xfrm>
            <a:off x="4279392" y="5157216"/>
            <a:ext cx="2926080" cy="365760"/>
          </a:xfrm>
          <a:prstGeom prst="rect">
            <a:avLst/>
          </a:prstGeom>
          <a:noFill/>
          <a:ln/>
        </p:spPr>
        <p:txBody>
          <a:bodyPr wrap="square" lIns="0" tIns="0" rIns="0" bIns="0" rtlCol="0" anchor="t"/>
          <a:lstStyle/>
          <a:p>
            <a:pPr indent="0" marL="0">
              <a:buNone/>
            </a:pPr>
            <a:r>
              <a:rPr lang="en-US" sz="1700" b="1" dirty="0">
                <a:solidFill>
                  <a:schemeClr val="tx2"/>
                </a:solidFill>
              </a:rPr>
              <a:t>Git</a:t>
            </a:r>
            <a:endParaRPr lang="en-US" sz="1700" dirty="0"/>
          </a:p>
        </p:txBody>
      </p:sp>
      <p:sp>
        <p:nvSpPr>
          <p:cNvPr id="34" name="Text 32"/>
          <p:cNvSpPr txBox="1"/>
          <p:nvPr/>
        </p:nvSpPr>
        <p:spPr>
          <a:xfrm>
            <a:off x="4279392" y="5541264"/>
            <a:ext cx="2926080" cy="320040"/>
          </a:xfrm>
          <a:prstGeom prst="rect">
            <a:avLst/>
          </a:prstGeom>
          <a:noFill/>
          <a:ln/>
        </p:spPr>
        <p:txBody>
          <a:bodyPr wrap="square" lIns="0" tIns="0" rIns="0" bIns="0" rtlCol="0" anchor="t"/>
          <a:lstStyle/>
          <a:p>
            <a:pPr indent="0" marL="0">
              <a:buNone/>
            </a:pPr>
            <a:r>
              <a:rPr lang="en-US" sz="1400" dirty="0">
                <a:solidFill>
                  <a:schemeClr val="accent4"/>
                </a:solidFill>
              </a:rPr>
              <a:t>Version control (optional)</a:t>
            </a:r>
            <a:endParaRPr lang="en-US" sz="1400" dirty="0"/>
          </a:p>
        </p:txBody>
      </p:sp>
      <p:sp>
        <p:nvSpPr>
          <p:cNvPr id="35" name="Hardware card"/>
          <p:cNvSpPr/>
          <p:nvPr/>
        </p:nvSpPr>
        <p:spPr>
          <a:xfrm>
            <a:off x="7680960" y="1463040"/>
            <a:ext cx="3959352" cy="4572000"/>
          </a:xfrm>
          <a:prstGeom prst="roundRect">
            <a:avLst>
              <a:gd name="adj" fmla="val 1848"/>
            </a:avLst>
          </a:prstGeom>
          <a:solidFill>
            <a:schemeClr val="tx2"/>
          </a:solidFill>
          <a:ln w="12700">
            <a:solidFill>
              <a:schemeClr val="tx2"/>
            </a:solidFill>
            <a:prstDash val="solid"/>
          </a:ln>
        </p:spPr>
      </p:sp>
      <p:sp>
        <p:nvSpPr>
          <p:cNvPr id="36" name="Text 34"/>
          <p:cNvSpPr txBox="1"/>
          <p:nvPr/>
        </p:nvSpPr>
        <p:spPr>
          <a:xfrm>
            <a:off x="8001000" y="1691640"/>
            <a:ext cx="3291840" cy="411480"/>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Hardware</a:t>
            </a:r>
            <a:endParaRPr lang="en-US" sz="2000" dirty="0"/>
          </a:p>
        </p:txBody>
      </p:sp>
      <p:sp>
        <p:nvSpPr>
          <p:cNvPr id="37" name="Text 35"/>
          <p:cNvSpPr txBox="1"/>
          <p:nvPr/>
        </p:nvSpPr>
        <p:spPr>
          <a:xfrm>
            <a:off x="9509760" y="2286000"/>
            <a:ext cx="91440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MINIMUM</a:t>
            </a:r>
            <a:endParaRPr lang="en-US" sz="1100" dirty="0"/>
          </a:p>
        </p:txBody>
      </p:sp>
      <p:sp>
        <p:nvSpPr>
          <p:cNvPr id="38" name="Text 36"/>
          <p:cNvSpPr txBox="1"/>
          <p:nvPr/>
        </p:nvSpPr>
        <p:spPr>
          <a:xfrm>
            <a:off x="10515600" y="2286000"/>
            <a:ext cx="91440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BEST</a:t>
            </a:r>
            <a:endParaRPr lang="en-US" sz="1100" dirty="0"/>
          </a:p>
        </p:txBody>
      </p:sp>
      <p:sp>
        <p:nvSpPr>
          <p:cNvPr id="39" name="Text 37"/>
          <p:cNvSpPr txBox="1"/>
          <p:nvPr/>
        </p:nvSpPr>
        <p:spPr>
          <a:xfrm>
            <a:off x="8001000" y="2697480"/>
            <a:ext cx="1371600" cy="457200"/>
          </a:xfrm>
          <a:prstGeom prst="rect">
            <a:avLst/>
          </a:prstGeom>
          <a:noFill/>
          <a:ln/>
        </p:spPr>
        <p:txBody>
          <a:bodyPr wrap="square" lIns="0" tIns="0" rIns="0" bIns="0" rtlCol="0" anchor="ctr"/>
          <a:lstStyle/>
          <a:p>
            <a:pPr indent="0" marL="0">
              <a:buNone/>
            </a:pPr>
            <a:r>
              <a:rPr lang="en-US" sz="1500" b="1" dirty="0">
                <a:solidFill>
                  <a:schemeClr val="bg1"/>
                </a:solidFill>
              </a:rPr>
              <a:t>Processor</a:t>
            </a:r>
            <a:endParaRPr lang="en-US" sz="1500" dirty="0"/>
          </a:p>
        </p:txBody>
      </p:sp>
      <p:sp>
        <p:nvSpPr>
          <p:cNvPr id="40" name="Text 38"/>
          <p:cNvSpPr txBox="1"/>
          <p:nvPr/>
        </p:nvSpPr>
        <p:spPr>
          <a:xfrm>
            <a:off x="9464040" y="2697480"/>
            <a:ext cx="1005840" cy="457200"/>
          </a:xfrm>
          <a:prstGeom prst="rect">
            <a:avLst/>
          </a:prstGeom>
          <a:noFill/>
          <a:ln/>
        </p:spPr>
        <p:txBody>
          <a:bodyPr wrap="square" lIns="0" tIns="0" rIns="0" bIns="0" rtlCol="0" anchor="ctr"/>
          <a:lstStyle/>
          <a:p>
            <a:pPr indent="0" marL="0">
              <a:buNone/>
            </a:pPr>
            <a:r>
              <a:rPr lang="en-US" sz="1400" dirty="0">
                <a:solidFill>
                  <a:schemeClr val="bg1"/>
                </a:solidFill>
              </a:rPr>
              <a:t>Core i3</a:t>
            </a:r>
            <a:endParaRPr lang="en-US" sz="1400" dirty="0"/>
          </a:p>
        </p:txBody>
      </p:sp>
      <p:sp>
        <p:nvSpPr>
          <p:cNvPr id="41" name="Text 39"/>
          <p:cNvSpPr txBox="1"/>
          <p:nvPr/>
        </p:nvSpPr>
        <p:spPr>
          <a:xfrm>
            <a:off x="10515600" y="2697480"/>
            <a:ext cx="1097280" cy="457200"/>
          </a:xfrm>
          <a:prstGeom prst="rect">
            <a:avLst/>
          </a:prstGeom>
          <a:noFill/>
          <a:ln/>
        </p:spPr>
        <p:txBody>
          <a:bodyPr wrap="square" lIns="0" tIns="0" rIns="0" bIns="0" rtlCol="0" anchor="ctr"/>
          <a:lstStyle/>
          <a:p>
            <a:pPr indent="0" marL="0">
              <a:buNone/>
            </a:pPr>
            <a:r>
              <a:rPr lang="en-US" sz="1400" dirty="0">
                <a:solidFill>
                  <a:schemeClr val="bg1"/>
                </a:solidFill>
              </a:rPr>
              <a:t>Core i5+</a:t>
            </a:r>
            <a:endParaRPr lang="en-US" sz="1400" dirty="0"/>
          </a:p>
        </p:txBody>
      </p:sp>
      <p:sp>
        <p:nvSpPr>
          <p:cNvPr id="42" name="Text 40"/>
          <p:cNvSpPr txBox="1"/>
          <p:nvPr/>
        </p:nvSpPr>
        <p:spPr>
          <a:xfrm>
            <a:off x="8001000" y="3337560"/>
            <a:ext cx="1371600" cy="457200"/>
          </a:xfrm>
          <a:prstGeom prst="rect">
            <a:avLst/>
          </a:prstGeom>
          <a:noFill/>
          <a:ln/>
        </p:spPr>
        <p:txBody>
          <a:bodyPr wrap="square" lIns="0" tIns="0" rIns="0" bIns="0" rtlCol="0" anchor="ctr"/>
          <a:lstStyle/>
          <a:p>
            <a:pPr indent="0" marL="0">
              <a:buNone/>
            </a:pPr>
            <a:r>
              <a:rPr lang="en-US" sz="1500" b="1" dirty="0">
                <a:solidFill>
                  <a:schemeClr val="bg1"/>
                </a:solidFill>
              </a:rPr>
              <a:t>RAM</a:t>
            </a:r>
            <a:endParaRPr lang="en-US" sz="1500" dirty="0"/>
          </a:p>
        </p:txBody>
      </p:sp>
      <p:sp>
        <p:nvSpPr>
          <p:cNvPr id="43" name="Text 41"/>
          <p:cNvSpPr txBox="1"/>
          <p:nvPr/>
        </p:nvSpPr>
        <p:spPr>
          <a:xfrm>
            <a:off x="9464040" y="3337560"/>
            <a:ext cx="1005840" cy="457200"/>
          </a:xfrm>
          <a:prstGeom prst="rect">
            <a:avLst/>
          </a:prstGeom>
          <a:noFill/>
          <a:ln/>
        </p:spPr>
        <p:txBody>
          <a:bodyPr wrap="square" lIns="0" tIns="0" rIns="0" bIns="0" rtlCol="0" anchor="ctr"/>
          <a:lstStyle/>
          <a:p>
            <a:pPr indent="0" marL="0">
              <a:buNone/>
            </a:pPr>
            <a:r>
              <a:rPr lang="en-US" sz="1400" dirty="0">
                <a:solidFill>
                  <a:schemeClr val="bg1"/>
                </a:solidFill>
              </a:rPr>
              <a:t>4 GB</a:t>
            </a:r>
            <a:endParaRPr lang="en-US" sz="1400" dirty="0"/>
          </a:p>
        </p:txBody>
      </p:sp>
      <p:sp>
        <p:nvSpPr>
          <p:cNvPr id="44" name="Text 42"/>
          <p:cNvSpPr txBox="1"/>
          <p:nvPr/>
        </p:nvSpPr>
        <p:spPr>
          <a:xfrm>
            <a:off x="10515600" y="3337560"/>
            <a:ext cx="1097280" cy="457200"/>
          </a:xfrm>
          <a:prstGeom prst="rect">
            <a:avLst/>
          </a:prstGeom>
          <a:noFill/>
          <a:ln/>
        </p:spPr>
        <p:txBody>
          <a:bodyPr wrap="square" lIns="0" tIns="0" rIns="0" bIns="0" rtlCol="0" anchor="ctr"/>
          <a:lstStyle/>
          <a:p>
            <a:pPr indent="0" marL="0">
              <a:buNone/>
            </a:pPr>
            <a:r>
              <a:rPr lang="en-US" sz="1400" dirty="0">
                <a:solidFill>
                  <a:schemeClr val="bg1"/>
                </a:solidFill>
              </a:rPr>
              <a:t>8 GB+</a:t>
            </a:r>
            <a:endParaRPr lang="en-US" sz="1400" dirty="0"/>
          </a:p>
        </p:txBody>
      </p:sp>
      <p:sp>
        <p:nvSpPr>
          <p:cNvPr id="45" name="Text 43"/>
          <p:cNvSpPr txBox="1"/>
          <p:nvPr/>
        </p:nvSpPr>
        <p:spPr>
          <a:xfrm>
            <a:off x="8001000" y="3977640"/>
            <a:ext cx="1371600" cy="457200"/>
          </a:xfrm>
          <a:prstGeom prst="rect">
            <a:avLst/>
          </a:prstGeom>
          <a:noFill/>
          <a:ln/>
        </p:spPr>
        <p:txBody>
          <a:bodyPr wrap="square" lIns="0" tIns="0" rIns="0" bIns="0" rtlCol="0" anchor="ctr"/>
          <a:lstStyle/>
          <a:p>
            <a:pPr indent="0" marL="0">
              <a:buNone/>
            </a:pPr>
            <a:r>
              <a:rPr lang="en-US" sz="1500" b="1" dirty="0">
                <a:solidFill>
                  <a:schemeClr val="bg1"/>
                </a:solidFill>
              </a:rPr>
              <a:t>Storage</a:t>
            </a:r>
            <a:endParaRPr lang="en-US" sz="1500" dirty="0"/>
          </a:p>
        </p:txBody>
      </p:sp>
      <p:sp>
        <p:nvSpPr>
          <p:cNvPr id="46" name="Text 44"/>
          <p:cNvSpPr txBox="1"/>
          <p:nvPr/>
        </p:nvSpPr>
        <p:spPr>
          <a:xfrm>
            <a:off x="9464040" y="3977640"/>
            <a:ext cx="1005840" cy="457200"/>
          </a:xfrm>
          <a:prstGeom prst="rect">
            <a:avLst/>
          </a:prstGeom>
          <a:noFill/>
          <a:ln/>
        </p:spPr>
        <p:txBody>
          <a:bodyPr wrap="square" lIns="0" tIns="0" rIns="0" bIns="0" rtlCol="0" anchor="ctr"/>
          <a:lstStyle/>
          <a:p>
            <a:pPr indent="0" marL="0">
              <a:buNone/>
            </a:pPr>
            <a:r>
              <a:rPr lang="en-US" sz="1400" dirty="0">
                <a:solidFill>
                  <a:schemeClr val="bg1"/>
                </a:solidFill>
              </a:rPr>
              <a:t>10 GB</a:t>
            </a:r>
            <a:endParaRPr lang="en-US" sz="1400" dirty="0"/>
          </a:p>
        </p:txBody>
      </p:sp>
      <p:sp>
        <p:nvSpPr>
          <p:cNvPr id="47" name="Text 45"/>
          <p:cNvSpPr txBox="1"/>
          <p:nvPr/>
        </p:nvSpPr>
        <p:spPr>
          <a:xfrm>
            <a:off x="10515600" y="3977640"/>
            <a:ext cx="1097280" cy="457200"/>
          </a:xfrm>
          <a:prstGeom prst="rect">
            <a:avLst/>
          </a:prstGeom>
          <a:noFill/>
          <a:ln/>
        </p:spPr>
        <p:txBody>
          <a:bodyPr wrap="square" lIns="0" tIns="0" rIns="0" bIns="0" rtlCol="0" anchor="ctr"/>
          <a:lstStyle/>
          <a:p>
            <a:pPr indent="0" marL="0">
              <a:buNone/>
            </a:pPr>
            <a:r>
              <a:rPr lang="en-US" sz="1400" dirty="0">
                <a:solidFill>
                  <a:schemeClr val="bg1"/>
                </a:solidFill>
              </a:rPr>
              <a:t>20 GB+</a:t>
            </a:r>
            <a:endParaRPr lang="en-US" sz="1400" dirty="0"/>
          </a:p>
        </p:txBody>
      </p:sp>
      <p:sp>
        <p:nvSpPr>
          <p:cNvPr id="48" name="Text 46"/>
          <p:cNvSpPr txBox="1"/>
          <p:nvPr/>
        </p:nvSpPr>
        <p:spPr>
          <a:xfrm>
            <a:off x="8001000" y="4617720"/>
            <a:ext cx="1371600" cy="457200"/>
          </a:xfrm>
          <a:prstGeom prst="rect">
            <a:avLst/>
          </a:prstGeom>
          <a:noFill/>
          <a:ln/>
        </p:spPr>
        <p:txBody>
          <a:bodyPr wrap="square" lIns="0" tIns="0" rIns="0" bIns="0" rtlCol="0" anchor="ctr"/>
          <a:lstStyle/>
          <a:p>
            <a:pPr indent="0" marL="0">
              <a:buNone/>
            </a:pPr>
            <a:r>
              <a:rPr lang="en-US" sz="1500" b="1" dirty="0">
                <a:solidFill>
                  <a:schemeClr val="bg1"/>
                </a:solidFill>
              </a:rPr>
              <a:t>Display</a:t>
            </a:r>
            <a:endParaRPr lang="en-US" sz="1500" dirty="0"/>
          </a:p>
        </p:txBody>
      </p:sp>
      <p:sp>
        <p:nvSpPr>
          <p:cNvPr id="49" name="Text 47"/>
          <p:cNvSpPr txBox="1"/>
          <p:nvPr/>
        </p:nvSpPr>
        <p:spPr>
          <a:xfrm>
            <a:off x="9464040" y="4617720"/>
            <a:ext cx="1005840" cy="457200"/>
          </a:xfrm>
          <a:prstGeom prst="rect">
            <a:avLst/>
          </a:prstGeom>
          <a:noFill/>
          <a:ln/>
        </p:spPr>
        <p:txBody>
          <a:bodyPr wrap="square" lIns="0" tIns="0" rIns="0" bIns="0" rtlCol="0" anchor="ctr"/>
          <a:lstStyle/>
          <a:p>
            <a:pPr indent="0" marL="0">
              <a:buNone/>
            </a:pPr>
            <a:r>
              <a:rPr lang="en-US" sz="1400" dirty="0">
                <a:solidFill>
                  <a:schemeClr val="bg1"/>
                </a:solidFill>
              </a:rPr>
              <a:t>1366x768</a:t>
            </a:r>
            <a:endParaRPr lang="en-US" sz="1400" dirty="0"/>
          </a:p>
        </p:txBody>
      </p:sp>
      <p:sp>
        <p:nvSpPr>
          <p:cNvPr id="50" name="Text 48"/>
          <p:cNvSpPr txBox="1"/>
          <p:nvPr/>
        </p:nvSpPr>
        <p:spPr>
          <a:xfrm>
            <a:off x="10515600" y="4617720"/>
            <a:ext cx="1097280" cy="457200"/>
          </a:xfrm>
          <a:prstGeom prst="rect">
            <a:avLst/>
          </a:prstGeom>
          <a:noFill/>
          <a:ln/>
        </p:spPr>
        <p:txBody>
          <a:bodyPr wrap="square" lIns="0" tIns="0" rIns="0" bIns="0" rtlCol="0" anchor="ctr"/>
          <a:lstStyle/>
          <a:p>
            <a:pPr indent="0" marL="0">
              <a:buNone/>
            </a:pPr>
            <a:r>
              <a:rPr lang="en-US" sz="1400" dirty="0">
                <a:solidFill>
                  <a:schemeClr val="bg1"/>
                </a:solidFill>
              </a:rPr>
              <a:t>1920x1080</a:t>
            </a:r>
            <a:endParaRPr lang="en-US" sz="1400" dirty="0"/>
          </a:p>
        </p:txBody>
      </p:sp>
      <p:sp>
        <p:nvSpPr>
          <p:cNvPr id="51" name="Text 49"/>
          <p:cNvSpPr txBox="1"/>
          <p:nvPr/>
        </p:nvSpPr>
        <p:spPr>
          <a:xfrm>
            <a:off x="8001000" y="5349240"/>
            <a:ext cx="3337560" cy="548640"/>
          </a:xfrm>
          <a:prstGeom prst="rect">
            <a:avLst/>
          </a:prstGeom>
          <a:noFill/>
          <a:ln/>
        </p:spPr>
        <p:txBody>
          <a:bodyPr wrap="square" lIns="0" tIns="0" rIns="0" bIns="0" rtlCol="0" anchor="t"/>
          <a:lstStyle/>
          <a:p>
            <a:pPr indent="0" marL="0">
              <a:buNone/>
            </a:pPr>
            <a:r>
              <a:rPr lang="en-US" sz="1400" dirty="0">
                <a:solidFill>
                  <a:schemeClr val="accent5"/>
                </a:solidFill>
              </a:rPr>
              <a:t>Runs on Windows 10/11, Linux or macOS. No dedicated GPU or database server needed.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Implementation</a:t>
            </a:r>
            <a:endParaRPr lang="en-US" sz="3000" dirty="0"/>
          </a:p>
        </p:txBody>
      </p:sp>
      <p:sp>
        <p:nvSpPr>
          <p:cNvPr id="3" name="Impl step 1"/>
          <p:cNvSpPr/>
          <p:nvPr/>
        </p:nvSpPr>
        <p:spPr>
          <a:xfrm>
            <a:off x="548640" y="1463040"/>
            <a:ext cx="4297680" cy="804672"/>
          </a:xfrm>
          <a:prstGeom prst="roundRect">
            <a:avLst>
              <a:gd name="adj" fmla="val 9091"/>
            </a:avLst>
          </a:prstGeom>
          <a:solidFill>
            <a:schemeClr val="bg2"/>
          </a:solidFill>
          <a:ln w="12700">
            <a:solidFill>
              <a:schemeClr val="bg2"/>
            </a:solidFill>
            <a:prstDash val="solid"/>
          </a:ln>
        </p:spPr>
      </p:sp>
      <p:sp>
        <p:nvSpPr>
          <p:cNvPr id="4" name="Number 1"/>
          <p:cNvSpPr/>
          <p:nvPr/>
        </p:nvSpPr>
        <p:spPr>
          <a:xfrm>
            <a:off x="731520" y="1636776"/>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6367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463040"/>
            <a:ext cx="3337560" cy="804672"/>
          </a:xfrm>
          <a:prstGeom prst="rect">
            <a:avLst/>
          </a:prstGeom>
          <a:noFill/>
          <a:ln/>
        </p:spPr>
        <p:txBody>
          <a:bodyPr wrap="square" lIns="0" tIns="0" rIns="0" bIns="0" rtlCol="0" anchor="ctr"/>
          <a:lstStyle/>
          <a:p>
            <a:pPr indent="0" marL="0">
              <a:buNone/>
            </a:pPr>
            <a:r>
              <a:rPr lang="en-US" sz="1500" dirty="0">
                <a:solidFill>
                  <a:schemeClr val="tx1"/>
                </a:solidFill>
              </a:rPr>
              <a:t>Initialise the SQLite database and tables</a:t>
            </a:r>
            <a:endParaRPr lang="en-US" sz="1500" dirty="0"/>
          </a:p>
        </p:txBody>
      </p:sp>
      <p:sp>
        <p:nvSpPr>
          <p:cNvPr id="7" name="Impl step 2"/>
          <p:cNvSpPr/>
          <p:nvPr/>
        </p:nvSpPr>
        <p:spPr>
          <a:xfrm>
            <a:off x="548640" y="2377440"/>
            <a:ext cx="4297680" cy="804672"/>
          </a:xfrm>
          <a:prstGeom prst="roundRect">
            <a:avLst>
              <a:gd name="adj" fmla="val 9091"/>
            </a:avLst>
          </a:prstGeom>
          <a:solidFill>
            <a:schemeClr val="bg2"/>
          </a:solidFill>
          <a:ln w="12700">
            <a:solidFill>
              <a:schemeClr val="bg2"/>
            </a:solidFill>
            <a:prstDash val="solid"/>
          </a:ln>
        </p:spPr>
      </p:sp>
      <p:sp>
        <p:nvSpPr>
          <p:cNvPr id="8" name="Number 2"/>
          <p:cNvSpPr/>
          <p:nvPr/>
        </p:nvSpPr>
        <p:spPr>
          <a:xfrm>
            <a:off x="731520" y="2551176"/>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731520" y="2551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371600" y="2377440"/>
            <a:ext cx="3337560" cy="804672"/>
          </a:xfrm>
          <a:prstGeom prst="rect">
            <a:avLst/>
          </a:prstGeom>
          <a:noFill/>
          <a:ln/>
        </p:spPr>
        <p:txBody>
          <a:bodyPr wrap="square" lIns="0" tIns="0" rIns="0" bIns="0" rtlCol="0" anchor="ctr"/>
          <a:lstStyle/>
          <a:p>
            <a:pPr indent="0" marL="0">
              <a:buNone/>
            </a:pPr>
            <a:r>
              <a:rPr lang="en-US" sz="1500" dirty="0">
                <a:solidFill>
                  <a:schemeClr val="tx1"/>
                </a:solidFill>
              </a:rPr>
              <a:t>Student logs in and selects a course</a:t>
            </a:r>
            <a:endParaRPr lang="en-US" sz="1500" dirty="0"/>
          </a:p>
        </p:txBody>
      </p:sp>
      <p:sp>
        <p:nvSpPr>
          <p:cNvPr id="11" name="Impl step 3"/>
          <p:cNvSpPr/>
          <p:nvPr/>
        </p:nvSpPr>
        <p:spPr>
          <a:xfrm>
            <a:off x="548640" y="3291840"/>
            <a:ext cx="4297680" cy="804672"/>
          </a:xfrm>
          <a:prstGeom prst="roundRect">
            <a:avLst>
              <a:gd name="adj" fmla="val 9091"/>
            </a:avLst>
          </a:prstGeom>
          <a:solidFill>
            <a:schemeClr val="bg2"/>
          </a:solidFill>
          <a:ln w="12700">
            <a:solidFill>
              <a:schemeClr val="bg2"/>
            </a:solidFill>
            <a:prstDash val="solid"/>
          </a:ln>
        </p:spPr>
      </p:sp>
      <p:sp>
        <p:nvSpPr>
          <p:cNvPr id="12" name="Number 3"/>
          <p:cNvSpPr/>
          <p:nvPr/>
        </p:nvSpPr>
        <p:spPr>
          <a:xfrm>
            <a:off x="731520" y="3465576"/>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731520" y="3465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371600" y="3291840"/>
            <a:ext cx="3337560" cy="804672"/>
          </a:xfrm>
          <a:prstGeom prst="rect">
            <a:avLst/>
          </a:prstGeom>
          <a:noFill/>
          <a:ln/>
        </p:spPr>
        <p:txBody>
          <a:bodyPr wrap="square" lIns="0" tIns="0" rIns="0" bIns="0" rtlCol="0" anchor="ctr"/>
          <a:lstStyle/>
          <a:p>
            <a:pPr indent="0" marL="0">
              <a:buNone/>
            </a:pPr>
            <a:r>
              <a:rPr lang="en-US" sz="1500" dirty="0">
                <a:solidFill>
                  <a:schemeClr val="tx1"/>
                </a:solidFill>
              </a:rPr>
              <a:t>Validate required fields and rating 1 to 5</a:t>
            </a:r>
            <a:endParaRPr lang="en-US" sz="1500" dirty="0"/>
          </a:p>
        </p:txBody>
      </p:sp>
      <p:sp>
        <p:nvSpPr>
          <p:cNvPr id="15" name="Impl step 4"/>
          <p:cNvSpPr/>
          <p:nvPr/>
        </p:nvSpPr>
        <p:spPr>
          <a:xfrm>
            <a:off x="548640" y="4206240"/>
            <a:ext cx="4297680" cy="804672"/>
          </a:xfrm>
          <a:prstGeom prst="roundRect">
            <a:avLst>
              <a:gd name="adj" fmla="val 9091"/>
            </a:avLst>
          </a:prstGeom>
          <a:solidFill>
            <a:schemeClr val="bg2"/>
          </a:solidFill>
          <a:ln w="12700">
            <a:solidFill>
              <a:schemeClr val="bg2"/>
            </a:solidFill>
            <a:prstDash val="solid"/>
          </a:ln>
        </p:spPr>
      </p:sp>
      <p:sp>
        <p:nvSpPr>
          <p:cNvPr id="16" name="Number 4"/>
          <p:cNvSpPr/>
          <p:nvPr/>
        </p:nvSpPr>
        <p:spPr>
          <a:xfrm>
            <a:off x="731520" y="4379976"/>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3152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371600" y="4206240"/>
            <a:ext cx="3337560" cy="804672"/>
          </a:xfrm>
          <a:prstGeom prst="rect">
            <a:avLst/>
          </a:prstGeom>
          <a:noFill/>
          <a:ln/>
        </p:spPr>
        <p:txBody>
          <a:bodyPr wrap="square" lIns="0" tIns="0" rIns="0" bIns="0" rtlCol="0" anchor="ctr"/>
          <a:lstStyle/>
          <a:p>
            <a:pPr indent="0" marL="0">
              <a:buNone/>
            </a:pPr>
            <a:r>
              <a:rPr lang="en-US" sz="1500" dirty="0">
                <a:solidFill>
                  <a:schemeClr val="tx1"/>
                </a:solidFill>
              </a:rPr>
              <a:t>Insert the record with parameterised SQL</a:t>
            </a:r>
            <a:endParaRPr lang="en-US" sz="1500" dirty="0"/>
          </a:p>
        </p:txBody>
      </p:sp>
      <p:sp>
        <p:nvSpPr>
          <p:cNvPr id="19" name="Impl step 5"/>
          <p:cNvSpPr/>
          <p:nvPr/>
        </p:nvSpPr>
        <p:spPr>
          <a:xfrm>
            <a:off x="548640" y="5120640"/>
            <a:ext cx="4297680" cy="804672"/>
          </a:xfrm>
          <a:prstGeom prst="roundRect">
            <a:avLst>
              <a:gd name="adj" fmla="val 9091"/>
            </a:avLst>
          </a:prstGeom>
          <a:solidFill>
            <a:schemeClr val="bg2"/>
          </a:solidFill>
          <a:ln w="12700">
            <a:solidFill>
              <a:schemeClr val="bg2"/>
            </a:solidFill>
            <a:prstDash val="solid"/>
          </a:ln>
        </p:spPr>
      </p:sp>
      <p:sp>
        <p:nvSpPr>
          <p:cNvPr id="20" name="Number 5"/>
          <p:cNvSpPr/>
          <p:nvPr/>
        </p:nvSpPr>
        <p:spPr>
          <a:xfrm>
            <a:off x="731520" y="5294376"/>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731520" y="52943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371600" y="5120640"/>
            <a:ext cx="3337560" cy="804672"/>
          </a:xfrm>
          <a:prstGeom prst="rect">
            <a:avLst/>
          </a:prstGeom>
          <a:noFill/>
          <a:ln/>
        </p:spPr>
        <p:txBody>
          <a:bodyPr wrap="square" lIns="0" tIns="0" rIns="0" bIns="0" rtlCol="0" anchor="ctr"/>
          <a:lstStyle/>
          <a:p>
            <a:pPr indent="0" marL="0">
              <a:buNone/>
            </a:pPr>
            <a:r>
              <a:rPr lang="en-US" sz="1500" dirty="0">
                <a:solidFill>
                  <a:schemeClr val="tx1"/>
                </a:solidFill>
              </a:rPr>
              <a:t>Compute the average rating per course</a:t>
            </a:r>
            <a:endParaRPr lang="en-US" sz="1500" dirty="0"/>
          </a:p>
        </p:txBody>
      </p:sp>
      <p:sp>
        <p:nvSpPr>
          <p:cNvPr id="23" name="Code panel"/>
          <p:cNvSpPr/>
          <p:nvPr/>
        </p:nvSpPr>
        <p:spPr>
          <a:xfrm>
            <a:off x="5074920" y="1463040"/>
            <a:ext cx="6565392" cy="4462272"/>
          </a:xfrm>
          <a:prstGeom prst="roundRect">
            <a:avLst>
              <a:gd name="adj" fmla="val 1639"/>
            </a:avLst>
          </a:prstGeom>
          <a:solidFill>
            <a:schemeClr val="tx2"/>
          </a:solidFill>
          <a:ln w="12700">
            <a:solidFill>
              <a:schemeClr val="tx2"/>
            </a:solidFill>
            <a:prstDash val="solid"/>
          </a:ln>
        </p:spPr>
      </p:sp>
      <p:sp>
        <p:nvSpPr>
          <p:cNvPr id="24" name="Text 22"/>
          <p:cNvSpPr txBox="1"/>
          <p:nvPr/>
        </p:nvSpPr>
        <p:spPr>
          <a:xfrm>
            <a:off x="5349240" y="1645920"/>
            <a:ext cx="3657600" cy="274320"/>
          </a:xfrm>
          <a:prstGeom prst="rect">
            <a:avLst/>
          </a:prstGeom>
          <a:noFill/>
          <a:ln/>
        </p:spPr>
        <p:txBody>
          <a:bodyPr wrap="square" lIns="0" tIns="0" rIns="0" bIns="0" rtlCol="0" anchor="t"/>
          <a:lstStyle/>
          <a:p>
            <a:pPr indent="0" marL="0">
              <a:buNone/>
            </a:pPr>
            <a:r>
              <a:rPr lang="en-US" sz="1200" b="1" dirty="0">
                <a:solidFill>
                  <a:schemeClr val="accent5"/>
                </a:solidFill>
              </a:rPr>
              <a:t>Python  |  sqlite3</a:t>
            </a:r>
            <a:endParaRPr lang="en-US" sz="1200" dirty="0"/>
          </a:p>
        </p:txBody>
      </p:sp>
      <p:sp>
        <p:nvSpPr>
          <p:cNvPr id="25" name="Text 23"/>
          <p:cNvSpPr txBox="1"/>
          <p:nvPr/>
        </p:nvSpPr>
        <p:spPr>
          <a:xfrm>
            <a:off x="5349240" y="2011680"/>
            <a:ext cx="6126480" cy="2926080"/>
          </a:xfrm>
          <a:prstGeom prst="rect">
            <a:avLst/>
          </a:prstGeom>
          <a:noFill/>
          <a:ln/>
        </p:spPr>
        <p:txBody>
          <a:bodyPr wrap="square" lIns="0" tIns="0" rIns="0" bIns="0" rtlCol="0" anchor="t"/>
          <a:lstStyle/>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def save_feedback(student_id, course, rating, comment):</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if not student_id or not course:</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raise ValueError("Required fields are missing")</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if rating not in range(1, 6):</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raise ValueError("Rating must be between 1 and 5")</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cur.execute(</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"INSERT INTO feedback "</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"(student_id, course, rating, comment) "</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"VALUES (?, ?, ?, ?)",</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(student_id, course, rating, comment))</a:t>
            </a:r>
            <a:endParaRPr lang="en-US" sz="1300" dirty="0"/>
          </a:p>
          <a:p>
            <a:pPr indent="0" marL="0">
              <a:lnSpc>
                <a:spcPct val="110000"/>
              </a:lnSpc>
              <a:buNone/>
            </a:pPr>
            <a:r>
              <a:rPr lang="en-US" sz="1300" dirty="0">
                <a:solidFill>
                  <a:schemeClr val="bg2"/>
                </a:solidFill>
                <a:latin typeface="Consolas" pitchFamily="34" charset="0"/>
                <a:ea typeface="Consolas" pitchFamily="34" charset="-122"/>
                <a:cs typeface="Consolas" pitchFamily="34" charset="-120"/>
              </a:rPr>
              <a:t>    conn.commit()</a:t>
            </a:r>
            <a:endParaRPr lang="en-US" sz="1300" dirty="0"/>
          </a:p>
        </p:txBody>
      </p:sp>
      <p:sp>
        <p:nvSpPr>
          <p:cNvPr id="26" name="Shape 24"/>
          <p:cNvSpPr/>
          <p:nvPr/>
        </p:nvSpPr>
        <p:spPr>
          <a:xfrm>
            <a:off x="5349240" y="5074920"/>
            <a:ext cx="5943600" cy="9144"/>
          </a:xfrm>
          <a:prstGeom prst="rect">
            <a:avLst/>
          </a:prstGeom>
          <a:solidFill>
            <a:schemeClr val="accent4"/>
          </a:solidFill>
          <a:ln w="12700">
            <a:solidFill>
              <a:schemeClr val="accent4"/>
            </a:solidFill>
            <a:prstDash val="solid"/>
          </a:ln>
        </p:spPr>
      </p:sp>
      <p:sp>
        <p:nvSpPr>
          <p:cNvPr id="27" name="Text 25"/>
          <p:cNvSpPr txBox="1"/>
          <p:nvPr/>
        </p:nvSpPr>
        <p:spPr>
          <a:xfrm>
            <a:off x="5349240" y="5212080"/>
            <a:ext cx="5943600" cy="548640"/>
          </a:xfrm>
          <a:prstGeom prst="rect">
            <a:avLst/>
          </a:prstGeom>
          <a:noFill/>
          <a:ln/>
        </p:spPr>
        <p:txBody>
          <a:bodyPr wrap="square" lIns="0" tIns="0" rIns="0" bIns="0" rtlCol="0" anchor="t"/>
          <a:lstStyle/>
          <a:p>
            <a:pPr indent="0" marL="0">
              <a:buNone/>
            </a:pPr>
            <a:r>
              <a:rPr lang="en-US" sz="1400" dirty="0">
                <a:solidFill>
                  <a:schemeClr val="accent5"/>
                </a:solidFill>
              </a:rPr>
              <a:t>The ? placeholders keep user input out of the SQL text, which guards against SQL injection.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Application Screens</a:t>
            </a:r>
            <a:endParaRPr lang="en-US" sz="3000" dirty="0"/>
          </a:p>
        </p:txBody>
      </p:sp>
      <p:pic>
        <p:nvPicPr>
          <p:cNvPr id="3" name="Student login" descr="Student login screen">    </p:cNvPr>
          <p:cNvPicPr>
            <a:picLocks noChangeAspect="1"/>
          </p:cNvPicPr>
          <p:nvPr/>
        </p:nvPicPr>
        <p:blipFill>
          <a:blip r:embed="rId1"/>
          <a:stretch>
            <a:fillRect/>
          </a:stretch>
        </p:blipFill>
        <p:spPr>
          <a:xfrm>
            <a:off x="548640" y="1417320"/>
            <a:ext cx="3840480" cy="2157984"/>
          </a:xfrm>
          <a:prstGeom prst="rect">
            <a:avLst/>
          </a:prstGeom>
        </p:spPr>
      </p:pic>
      <p:sp>
        <p:nvSpPr>
          <p:cNvPr id="4" name="Text 1"/>
          <p:cNvSpPr txBox="1"/>
          <p:nvPr/>
        </p:nvSpPr>
        <p:spPr>
          <a:xfrm>
            <a:off x="548640" y="3611880"/>
            <a:ext cx="3840480" cy="228600"/>
          </a:xfrm>
          <a:prstGeom prst="rect">
            <a:avLst/>
          </a:prstGeom>
          <a:noFill/>
          <a:ln/>
        </p:spPr>
        <p:txBody>
          <a:bodyPr wrap="square" lIns="0" tIns="0" rIns="0" bIns="0" rtlCol="0" anchor="t"/>
          <a:lstStyle/>
          <a:p>
            <a:pPr algn="ctr" indent="0" marL="0">
              <a:buNone/>
            </a:pPr>
            <a:r>
              <a:rPr lang="en-US" sz="1300" b="1" dirty="0">
                <a:solidFill>
                  <a:schemeClr val="accent4"/>
                </a:solidFill>
              </a:rPr>
              <a:t>Student login</a:t>
            </a:r>
            <a:endParaRPr lang="en-US" sz="1300" dirty="0"/>
          </a:p>
        </p:txBody>
      </p:sp>
      <p:pic>
        <p:nvPicPr>
          <p:cNvPr id="5" name="Student dashboard" descr="Student dashboard screen">    </p:cNvPr>
          <p:cNvPicPr>
            <a:picLocks noChangeAspect="1"/>
          </p:cNvPicPr>
          <p:nvPr/>
        </p:nvPicPr>
        <p:blipFill>
          <a:blip r:embed="rId2"/>
          <a:stretch>
            <a:fillRect/>
          </a:stretch>
        </p:blipFill>
        <p:spPr>
          <a:xfrm>
            <a:off x="4663440" y="1417320"/>
            <a:ext cx="3840480" cy="2157984"/>
          </a:xfrm>
          <a:prstGeom prst="rect">
            <a:avLst/>
          </a:prstGeom>
        </p:spPr>
      </p:pic>
      <p:sp>
        <p:nvSpPr>
          <p:cNvPr id="6" name="Text 2"/>
          <p:cNvSpPr txBox="1"/>
          <p:nvPr/>
        </p:nvSpPr>
        <p:spPr>
          <a:xfrm>
            <a:off x="4663440" y="3611880"/>
            <a:ext cx="3840480" cy="228600"/>
          </a:xfrm>
          <a:prstGeom prst="rect">
            <a:avLst/>
          </a:prstGeom>
          <a:noFill/>
          <a:ln/>
        </p:spPr>
        <p:txBody>
          <a:bodyPr wrap="square" lIns="0" tIns="0" rIns="0" bIns="0" rtlCol="0" anchor="t"/>
          <a:lstStyle/>
          <a:p>
            <a:pPr algn="ctr" indent="0" marL="0">
              <a:buNone/>
            </a:pPr>
            <a:r>
              <a:rPr lang="en-US" sz="1300" b="1" dirty="0">
                <a:solidFill>
                  <a:schemeClr val="accent4"/>
                </a:solidFill>
              </a:rPr>
              <a:t>Student dashboard</a:t>
            </a:r>
            <a:endParaRPr lang="en-US" sz="1300" dirty="0"/>
          </a:p>
        </p:txBody>
      </p:sp>
      <p:pic>
        <p:nvPicPr>
          <p:cNvPr id="7" name="Course feedback form" descr="Course feedback form screen">    </p:cNvPr>
          <p:cNvPicPr>
            <a:picLocks noChangeAspect="1"/>
          </p:cNvPicPr>
          <p:nvPr/>
        </p:nvPicPr>
        <p:blipFill>
          <a:blip r:embed="rId3"/>
          <a:stretch>
            <a:fillRect/>
          </a:stretch>
        </p:blipFill>
        <p:spPr>
          <a:xfrm>
            <a:off x="548640" y="3840480"/>
            <a:ext cx="3840480" cy="2157984"/>
          </a:xfrm>
          <a:prstGeom prst="rect">
            <a:avLst/>
          </a:prstGeom>
        </p:spPr>
      </p:pic>
      <p:sp>
        <p:nvSpPr>
          <p:cNvPr id="8" name="Text 3"/>
          <p:cNvSpPr txBox="1"/>
          <p:nvPr/>
        </p:nvSpPr>
        <p:spPr>
          <a:xfrm>
            <a:off x="548640" y="6035040"/>
            <a:ext cx="3840480" cy="228600"/>
          </a:xfrm>
          <a:prstGeom prst="rect">
            <a:avLst/>
          </a:prstGeom>
          <a:noFill/>
          <a:ln/>
        </p:spPr>
        <p:txBody>
          <a:bodyPr wrap="square" lIns="0" tIns="0" rIns="0" bIns="0" rtlCol="0" anchor="t"/>
          <a:lstStyle/>
          <a:p>
            <a:pPr algn="ctr" indent="0" marL="0">
              <a:buNone/>
            </a:pPr>
            <a:r>
              <a:rPr lang="en-US" sz="1300" b="1" dirty="0">
                <a:solidFill>
                  <a:schemeClr val="accent4"/>
                </a:solidFill>
              </a:rPr>
              <a:t>Course feedback form</a:t>
            </a:r>
            <a:endParaRPr lang="en-US" sz="1300" dirty="0"/>
          </a:p>
        </p:txBody>
      </p:sp>
      <p:pic>
        <p:nvPicPr>
          <p:cNvPr id="9" name="Administrator dashboard" descr="Administrator dashboard screen">    </p:cNvPr>
          <p:cNvPicPr>
            <a:picLocks noChangeAspect="1"/>
          </p:cNvPicPr>
          <p:nvPr/>
        </p:nvPicPr>
        <p:blipFill>
          <a:blip r:embed="rId4"/>
          <a:stretch>
            <a:fillRect/>
          </a:stretch>
        </p:blipFill>
        <p:spPr>
          <a:xfrm>
            <a:off x="4663440" y="3840480"/>
            <a:ext cx="3840480" cy="2157984"/>
          </a:xfrm>
          <a:prstGeom prst="rect">
            <a:avLst/>
          </a:prstGeom>
        </p:spPr>
      </p:pic>
      <p:sp>
        <p:nvSpPr>
          <p:cNvPr id="10" name="Text 4"/>
          <p:cNvSpPr txBox="1"/>
          <p:nvPr/>
        </p:nvSpPr>
        <p:spPr>
          <a:xfrm>
            <a:off x="4663440" y="6035040"/>
            <a:ext cx="3840480" cy="228600"/>
          </a:xfrm>
          <a:prstGeom prst="rect">
            <a:avLst/>
          </a:prstGeom>
          <a:noFill/>
          <a:ln/>
        </p:spPr>
        <p:txBody>
          <a:bodyPr wrap="square" lIns="0" tIns="0" rIns="0" bIns="0" rtlCol="0" anchor="t"/>
          <a:lstStyle/>
          <a:p>
            <a:pPr algn="ctr" indent="0" marL="0">
              <a:buNone/>
            </a:pPr>
            <a:r>
              <a:rPr lang="en-US" sz="1300" b="1" dirty="0">
                <a:solidFill>
                  <a:schemeClr val="accent4"/>
                </a:solidFill>
              </a:rPr>
              <a:t>Administrator dashboard</a:t>
            </a:r>
            <a:endParaRPr lang="en-US" sz="1300" dirty="0"/>
          </a:p>
        </p:txBody>
      </p:sp>
      <p:sp>
        <p:nvSpPr>
          <p:cNvPr id="11" name="Screen notes"/>
          <p:cNvSpPr/>
          <p:nvPr/>
        </p:nvSpPr>
        <p:spPr>
          <a:xfrm>
            <a:off x="8961120" y="1417320"/>
            <a:ext cx="2679192" cy="4572000"/>
          </a:xfrm>
          <a:prstGeom prst="roundRect">
            <a:avLst>
              <a:gd name="adj" fmla="val 2730"/>
            </a:avLst>
          </a:prstGeom>
          <a:solidFill>
            <a:schemeClr val="bg2"/>
          </a:solidFill>
          <a:ln w="12700">
            <a:solidFill>
              <a:schemeClr val="bg2"/>
            </a:solidFill>
            <a:prstDash val="solid"/>
          </a:ln>
        </p:spPr>
      </p:sp>
      <p:sp>
        <p:nvSpPr>
          <p:cNvPr id="12" name="Text 6"/>
          <p:cNvSpPr txBox="1"/>
          <p:nvPr/>
        </p:nvSpPr>
        <p:spPr>
          <a:xfrm>
            <a:off x="9235440" y="1645920"/>
            <a:ext cx="219456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What they show</a:t>
            </a:r>
            <a:endParaRPr lang="en-US" sz="1800" dirty="0"/>
          </a:p>
        </p:txBody>
      </p:sp>
      <p:sp>
        <p:nvSpPr>
          <p:cNvPr id="13" name="Text 7"/>
          <p:cNvSpPr txBox="1"/>
          <p:nvPr/>
        </p:nvSpPr>
        <p:spPr>
          <a:xfrm>
            <a:off x="9235440" y="2194560"/>
            <a:ext cx="2194560" cy="365760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Secure login for registered students</a:t>
            </a:r>
            <a:endParaRPr lang="en-US" sz="1500" dirty="0"/>
          </a:p>
          <a:p>
            <a:pPr marL="203200" indent="-203200">
              <a:spcAft>
                <a:spcPts val="500"/>
              </a:spcAft>
              <a:buSzPct val="100000"/>
              <a:buChar char="•"/>
            </a:pPr>
            <a:r>
              <a:rPr lang="en-US" sz="1500" dirty="0">
                <a:solidFill>
                  <a:schemeClr val="tx1"/>
                </a:solidFill>
              </a:rPr>
              <a:t>Dashboard of courses, submitted and pending feedback</a:t>
            </a:r>
            <a:endParaRPr lang="en-US" sz="1500" dirty="0"/>
          </a:p>
          <a:p>
            <a:pPr marL="203200" indent="-203200">
              <a:spcAft>
                <a:spcPts val="500"/>
              </a:spcAft>
              <a:buSzPct val="100000"/>
              <a:buChar char="•"/>
            </a:pPr>
            <a:r>
              <a:rPr lang="en-US" sz="1500" dirty="0">
                <a:solidFill>
                  <a:schemeClr val="tx1"/>
                </a:solidFill>
              </a:rPr>
              <a:t>Rating from 1 to 5 for each question</a:t>
            </a:r>
            <a:endParaRPr lang="en-US" sz="1500" dirty="0"/>
          </a:p>
          <a:p>
            <a:pPr marL="203200" indent="-203200">
              <a:spcAft>
                <a:spcPts val="500"/>
              </a:spcAft>
              <a:buSzPct val="100000"/>
              <a:buChar char="•"/>
            </a:pPr>
            <a:r>
              <a:rPr lang="en-US" sz="1500" dirty="0">
                <a:solidFill>
                  <a:schemeClr val="tx1"/>
                </a:solidFill>
              </a:rPr>
              <a:t>Admin view of totals and average ratings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Results: Testing and Ratings</a:t>
            </a:r>
            <a:endParaRPr lang="en-US" sz="3000" dirty="0"/>
          </a:p>
        </p:txBody>
      </p:sp>
      <p:sp>
        <p:nvSpPr>
          <p:cNvPr id="3" name="Test summary"/>
          <p:cNvSpPr/>
          <p:nvPr/>
        </p:nvSpPr>
        <p:spPr>
          <a:xfrm>
            <a:off x="548640" y="1463040"/>
            <a:ext cx="3474720" cy="2011680"/>
          </a:xfrm>
          <a:prstGeom prst="roundRect">
            <a:avLst>
              <a:gd name="adj" fmla="val 3636"/>
            </a:avLst>
          </a:prstGeom>
          <a:solidFill>
            <a:schemeClr val="tx2"/>
          </a:solidFill>
          <a:ln w="12700">
            <a:solidFill>
              <a:schemeClr val="tx2"/>
            </a:solidFill>
            <a:prstDash val="solid"/>
          </a:ln>
        </p:spPr>
      </p:sp>
      <p:sp>
        <p:nvSpPr>
          <p:cNvPr id="4" name="Text 2"/>
          <p:cNvSpPr txBox="1"/>
          <p:nvPr/>
        </p:nvSpPr>
        <p:spPr>
          <a:xfrm>
            <a:off x="548640" y="1691640"/>
            <a:ext cx="3474720" cy="1005840"/>
          </a:xfrm>
          <a:prstGeom prst="rect">
            <a:avLst/>
          </a:prstGeom>
          <a:noFill/>
          <a:ln/>
        </p:spPr>
        <p:txBody>
          <a:bodyPr wrap="square" lIns="0" tIns="0" rIns="0" bIns="0" rtlCol="0" anchor="ctr"/>
          <a:lstStyle/>
          <a:p>
            <a:pPr algn="ctr" indent="0" marL="0">
              <a:buNone/>
            </a:pPr>
            <a:r>
              <a:rPr lang="en-US" sz="6000" b="1" dirty="0">
                <a:solidFill>
                  <a:schemeClr val="accent2"/>
                </a:solidFill>
                <a:latin typeface="+mj-lt" pitchFamily="34" charset="0"/>
                <a:ea typeface="+mj-lt" pitchFamily="34" charset="-122"/>
                <a:cs typeface="+mj-lt" pitchFamily="34" charset="-120"/>
              </a:rPr>
              <a:t>8 / 8</a:t>
            </a:r>
            <a:endParaRPr lang="en-US" sz="6000" dirty="0"/>
          </a:p>
        </p:txBody>
      </p:sp>
      <p:sp>
        <p:nvSpPr>
          <p:cNvPr id="5" name="Text 3"/>
          <p:cNvSpPr txBox="1"/>
          <p:nvPr/>
        </p:nvSpPr>
        <p:spPr>
          <a:xfrm>
            <a:off x="777240" y="2743200"/>
            <a:ext cx="3017520" cy="548640"/>
          </a:xfrm>
          <a:prstGeom prst="rect">
            <a:avLst/>
          </a:prstGeom>
          <a:noFill/>
          <a:ln/>
        </p:spPr>
        <p:txBody>
          <a:bodyPr wrap="square" lIns="0" tIns="0" rIns="0" bIns="0" rtlCol="0" anchor="t"/>
          <a:lstStyle/>
          <a:p>
            <a:pPr algn="ctr" indent="0" marL="0">
              <a:buNone/>
            </a:pPr>
            <a:r>
              <a:rPr lang="en-US" sz="1500" dirty="0">
                <a:solidFill>
                  <a:schemeClr val="bg1"/>
                </a:solidFill>
              </a:rPr>
              <a:t>functional test cases passed (TC-01 to TC-08)</a:t>
            </a:r>
            <a:endParaRPr lang="en-US" sz="1500" dirty="0"/>
          </a:p>
        </p:txBody>
      </p:sp>
      <p:sp>
        <p:nvSpPr>
          <p:cNvPr id="6" name="Text 4"/>
          <p:cNvSpPr txBox="1"/>
          <p:nvPr/>
        </p:nvSpPr>
        <p:spPr>
          <a:xfrm>
            <a:off x="548640" y="3749040"/>
            <a:ext cx="34747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PASSED BY TEST AREA</a:t>
            </a:r>
            <a:endParaRPr lang="en-US" sz="1200" dirty="0"/>
          </a:p>
        </p:txBody>
      </p:sp>
      <p:sp>
        <p:nvSpPr>
          <p:cNvPr id="7" name="Area Login"/>
          <p:cNvSpPr/>
          <p:nvPr/>
        </p:nvSpPr>
        <p:spPr>
          <a:xfrm>
            <a:off x="548640" y="4114800"/>
            <a:ext cx="1097280" cy="1371600"/>
          </a:xfrm>
          <a:prstGeom prst="roundRect">
            <a:avLst>
              <a:gd name="adj" fmla="val 6667"/>
            </a:avLst>
          </a:prstGeom>
          <a:solidFill>
            <a:schemeClr val="bg2"/>
          </a:solidFill>
          <a:ln w="12700">
            <a:solidFill>
              <a:schemeClr val="bg2"/>
            </a:solidFill>
            <a:prstDash val="solid"/>
          </a:ln>
        </p:spPr>
      </p:sp>
      <p:sp>
        <p:nvSpPr>
          <p:cNvPr id="8" name="Text 6"/>
          <p:cNvSpPr txBox="1"/>
          <p:nvPr/>
        </p:nvSpPr>
        <p:spPr>
          <a:xfrm>
            <a:off x="548640" y="4251960"/>
            <a:ext cx="109728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2</a:t>
            </a:r>
            <a:endParaRPr lang="en-US" sz="3600" dirty="0"/>
          </a:p>
        </p:txBody>
      </p:sp>
      <p:sp>
        <p:nvSpPr>
          <p:cNvPr id="9" name="Text 7"/>
          <p:cNvSpPr txBox="1"/>
          <p:nvPr/>
        </p:nvSpPr>
        <p:spPr>
          <a:xfrm>
            <a:off x="548640" y="4937760"/>
            <a:ext cx="1097280" cy="365760"/>
          </a:xfrm>
          <a:prstGeom prst="rect">
            <a:avLst/>
          </a:prstGeom>
          <a:noFill/>
          <a:ln/>
        </p:spPr>
        <p:txBody>
          <a:bodyPr wrap="square" lIns="0" tIns="0" rIns="0" bIns="0" rtlCol="0" anchor="t"/>
          <a:lstStyle/>
          <a:p>
            <a:pPr algn="ctr" indent="0" marL="0">
              <a:buNone/>
            </a:pPr>
            <a:r>
              <a:rPr lang="en-US" sz="1400" b="1" dirty="0">
                <a:solidFill>
                  <a:schemeClr val="tx2"/>
                </a:solidFill>
              </a:rPr>
              <a:t>Login</a:t>
            </a:r>
            <a:endParaRPr lang="en-US" sz="1400" dirty="0"/>
          </a:p>
        </p:txBody>
      </p:sp>
      <p:sp>
        <p:nvSpPr>
          <p:cNvPr id="10" name="Area Form"/>
          <p:cNvSpPr/>
          <p:nvPr/>
        </p:nvSpPr>
        <p:spPr>
          <a:xfrm>
            <a:off x="1737360" y="4114800"/>
            <a:ext cx="1097280" cy="1371600"/>
          </a:xfrm>
          <a:prstGeom prst="roundRect">
            <a:avLst>
              <a:gd name="adj" fmla="val 6667"/>
            </a:avLst>
          </a:prstGeom>
          <a:solidFill>
            <a:schemeClr val="bg2"/>
          </a:solidFill>
          <a:ln w="12700">
            <a:solidFill>
              <a:schemeClr val="bg2"/>
            </a:solidFill>
            <a:prstDash val="solid"/>
          </a:ln>
        </p:spPr>
      </p:sp>
      <p:sp>
        <p:nvSpPr>
          <p:cNvPr id="11" name="Text 9"/>
          <p:cNvSpPr txBox="1"/>
          <p:nvPr/>
        </p:nvSpPr>
        <p:spPr>
          <a:xfrm>
            <a:off x="1737360" y="4251960"/>
            <a:ext cx="109728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3</a:t>
            </a:r>
            <a:endParaRPr lang="en-US" sz="3600" dirty="0"/>
          </a:p>
        </p:txBody>
      </p:sp>
      <p:sp>
        <p:nvSpPr>
          <p:cNvPr id="12" name="Text 10"/>
          <p:cNvSpPr txBox="1"/>
          <p:nvPr/>
        </p:nvSpPr>
        <p:spPr>
          <a:xfrm>
            <a:off x="1737360" y="4937760"/>
            <a:ext cx="1097280" cy="365760"/>
          </a:xfrm>
          <a:prstGeom prst="rect">
            <a:avLst/>
          </a:prstGeom>
          <a:noFill/>
          <a:ln/>
        </p:spPr>
        <p:txBody>
          <a:bodyPr wrap="square" lIns="0" tIns="0" rIns="0" bIns="0" rtlCol="0" anchor="t"/>
          <a:lstStyle/>
          <a:p>
            <a:pPr algn="ctr" indent="0" marL="0">
              <a:buNone/>
            </a:pPr>
            <a:r>
              <a:rPr lang="en-US" sz="1400" b="1" dirty="0">
                <a:solidFill>
                  <a:schemeClr val="tx2"/>
                </a:solidFill>
              </a:rPr>
              <a:t>Form</a:t>
            </a:r>
            <a:endParaRPr lang="en-US" sz="1400" dirty="0"/>
          </a:p>
        </p:txBody>
      </p:sp>
      <p:sp>
        <p:nvSpPr>
          <p:cNvPr id="13" name="Area Storage"/>
          <p:cNvSpPr/>
          <p:nvPr/>
        </p:nvSpPr>
        <p:spPr>
          <a:xfrm>
            <a:off x="2926080" y="4114800"/>
            <a:ext cx="1097280" cy="1371600"/>
          </a:xfrm>
          <a:prstGeom prst="roundRect">
            <a:avLst>
              <a:gd name="adj" fmla="val 6667"/>
            </a:avLst>
          </a:prstGeom>
          <a:solidFill>
            <a:schemeClr val="bg2"/>
          </a:solidFill>
          <a:ln w="12700">
            <a:solidFill>
              <a:schemeClr val="bg2"/>
            </a:solidFill>
            <a:prstDash val="solid"/>
          </a:ln>
        </p:spPr>
      </p:sp>
      <p:sp>
        <p:nvSpPr>
          <p:cNvPr id="14" name="Text 12"/>
          <p:cNvSpPr txBox="1"/>
          <p:nvPr/>
        </p:nvSpPr>
        <p:spPr>
          <a:xfrm>
            <a:off x="2926080" y="4251960"/>
            <a:ext cx="109728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3</a:t>
            </a:r>
            <a:endParaRPr lang="en-US" sz="3600" dirty="0"/>
          </a:p>
        </p:txBody>
      </p:sp>
      <p:sp>
        <p:nvSpPr>
          <p:cNvPr id="15" name="Text 13"/>
          <p:cNvSpPr txBox="1"/>
          <p:nvPr/>
        </p:nvSpPr>
        <p:spPr>
          <a:xfrm>
            <a:off x="2926080" y="4937760"/>
            <a:ext cx="1097280" cy="365760"/>
          </a:xfrm>
          <a:prstGeom prst="rect">
            <a:avLst/>
          </a:prstGeom>
          <a:noFill/>
          <a:ln/>
        </p:spPr>
        <p:txBody>
          <a:bodyPr wrap="square" lIns="0" tIns="0" rIns="0" bIns="0" rtlCol="0" anchor="t"/>
          <a:lstStyle/>
          <a:p>
            <a:pPr algn="ctr" indent="0" marL="0">
              <a:buNone/>
            </a:pPr>
            <a:r>
              <a:rPr lang="en-US" sz="1400" b="1" dirty="0">
                <a:solidFill>
                  <a:schemeClr val="tx2"/>
                </a:solidFill>
              </a:rPr>
              <a:t>Storage</a:t>
            </a:r>
            <a:endParaRPr lang="en-US" sz="1400" dirty="0"/>
          </a:p>
        </p:txBody>
      </p:sp>
      <p:graphicFrame>
        <p:nvGraphicFramePr>
          <p:cNvPr id="16" name="Chart 0" descr=""/>
          <p:cNvGraphicFramePr/>
          <p:nvPr/>
        </p:nvGraphicFramePr>
        <p:xfrm>
          <a:off x="4297680" y="1463040"/>
          <a:ext cx="7342632" cy="4023360"/>
        </p:xfrm>
        <a:graphic xmlns:a="http://schemas.openxmlformats.org/drawingml/2006/main">
          <a:graphicData uri="http://schemas.openxmlformats.org/drawingml/2006/chart">
            <c:chart xmlns:c="http://schemas.openxmlformats.org/drawingml/2006/chart" r:id="rId1"/>
          </a:graphicData>
        </a:graphic>
      </p:graphicFrame>
      <p:sp>
        <p:nvSpPr>
          <p:cNvPr id="17" name="Data note"/>
          <p:cNvSpPr/>
          <p:nvPr/>
        </p:nvSpPr>
        <p:spPr>
          <a:xfrm>
            <a:off x="548640" y="5669280"/>
            <a:ext cx="11091672" cy="502920"/>
          </a:xfrm>
          <a:prstGeom prst="roundRect">
            <a:avLst>
              <a:gd name="adj" fmla="val 14545"/>
            </a:avLst>
          </a:prstGeom>
          <a:solidFill>
            <a:schemeClr val="bg2"/>
          </a:solidFill>
          <a:ln w="12700">
            <a:solidFill>
              <a:schemeClr val="bg2"/>
            </a:solidFill>
            <a:prstDash val="solid"/>
          </a:ln>
        </p:spPr>
      </p:sp>
      <p:sp>
        <p:nvSpPr>
          <p:cNvPr id="18" name="Text 15"/>
          <p:cNvSpPr txBox="1"/>
          <p:nvPr/>
        </p:nvSpPr>
        <p:spPr>
          <a:xfrm>
            <a:off x="822960" y="5669280"/>
            <a:ext cx="10607040" cy="502920"/>
          </a:xfrm>
          <a:prstGeom prst="rect">
            <a:avLst/>
          </a:prstGeom>
          <a:noFill/>
          <a:ln/>
        </p:spPr>
        <p:txBody>
          <a:bodyPr wrap="square" lIns="0" tIns="0" rIns="0" bIns="0" rtlCol="0" anchor="ctr"/>
          <a:lstStyle/>
          <a:p>
            <a:pPr indent="0" marL="0">
              <a:buNone/>
            </a:pPr>
            <a:r>
              <a:rPr lang="en-US" sz="1400" i="1" dirty="0">
                <a:solidFill>
                  <a:schemeClr val="tx1"/>
                </a:solidFill>
              </a:rPr>
              <a:t>Course ratings are illustrative sample data used to demonstrate reporting; all are at least 4.0 out of 5.</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chemeClr val="bg1"/>
                </a:solidFill>
              </a:rPr>
              <a:t>Conclusion and Future Scope</a:t>
            </a:r>
            <a:endParaRPr lang="en-US" sz="3000" dirty="0"/>
          </a:p>
        </p:txBody>
      </p:sp>
      <p:sp>
        <p:nvSpPr>
          <p:cNvPr id="3" name="Text 1"/>
          <p:cNvSpPr txBox="1"/>
          <p:nvPr/>
        </p:nvSpPr>
        <p:spPr>
          <a:xfrm>
            <a:off x="548640" y="1463040"/>
            <a:ext cx="50292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CONCLUSION</a:t>
            </a:r>
            <a:endParaRPr lang="en-US" sz="1200" dirty="0"/>
          </a:p>
        </p:txBody>
      </p:sp>
      <p:sp>
        <p:nvSpPr>
          <p:cNvPr id="4" name="Text 2"/>
          <p:cNvSpPr txBox="1"/>
          <p:nvPr/>
        </p:nvSpPr>
        <p:spPr>
          <a:xfrm>
            <a:off x="548640" y="1828800"/>
            <a:ext cx="521208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bg1"/>
                </a:solidFill>
              </a:rPr>
              <a:t>Turned a manual feedback process into a structured Python application</a:t>
            </a:r>
            <a:endParaRPr lang="en-US" sz="1700" dirty="0"/>
          </a:p>
          <a:p>
            <a:pPr marL="203200" indent="-203200">
              <a:spcAft>
                <a:spcPts val="800"/>
              </a:spcAft>
              <a:buSzPct val="100000"/>
              <a:buChar char="•"/>
            </a:pPr>
            <a:r>
              <a:rPr lang="en-US" sz="1700" dirty="0">
                <a:solidFill>
                  <a:schemeClr val="bg1"/>
                </a:solidFill>
              </a:rPr>
              <a:t>Gained hands-on practice in Python, Tkinter, SQLite and testing</a:t>
            </a:r>
            <a:endParaRPr lang="en-US" sz="1700" dirty="0"/>
          </a:p>
          <a:p>
            <a:pPr marL="203200" indent="-203200">
              <a:spcAft>
                <a:spcPts val="800"/>
              </a:spcAft>
              <a:buSzPct val="100000"/>
              <a:buChar char="•"/>
            </a:pPr>
            <a:r>
              <a:rPr lang="en-US" sz="1700" dirty="0">
                <a:solidFill>
                  <a:schemeClr val="bg1"/>
                </a:solidFill>
              </a:rPr>
              <a:t>All 8 functional test cases passed</a:t>
            </a:r>
            <a:endParaRPr lang="en-US" sz="1700" dirty="0"/>
          </a:p>
          <a:p>
            <a:pPr marL="203200" indent="-203200">
              <a:spcAft>
                <a:spcPts val="800"/>
              </a:spcAft>
              <a:buSzPct val="100000"/>
              <a:buChar char="•"/>
            </a:pPr>
            <a:r>
              <a:rPr lang="en-US" sz="1700" dirty="0">
                <a:solidFill>
                  <a:schemeClr val="bg1"/>
                </a:solidFill>
              </a:rPr>
              <a:t>Learned why requirements and validation matter</a:t>
            </a:r>
            <a:endParaRPr lang="en-US" sz="1700" dirty="0"/>
          </a:p>
        </p:txBody>
      </p:sp>
      <p:sp>
        <p:nvSpPr>
          <p:cNvPr id="5" name="Limitations card"/>
          <p:cNvSpPr/>
          <p:nvPr/>
        </p:nvSpPr>
        <p:spPr>
          <a:xfrm>
            <a:off x="548640" y="4160520"/>
            <a:ext cx="5212080" cy="1097280"/>
          </a:xfrm>
          <a:prstGeom prst="roundRect">
            <a:avLst>
              <a:gd name="adj" fmla="val 6667"/>
            </a:avLst>
          </a:prstGeom>
          <a:solidFill>
            <a:schemeClr val="tx1"/>
          </a:solidFill>
          <a:ln w="12700">
            <a:solidFill>
              <a:schemeClr val="tx1"/>
            </a:solidFill>
            <a:prstDash val="solid"/>
          </a:ln>
        </p:spPr>
      </p:sp>
      <p:sp>
        <p:nvSpPr>
          <p:cNvPr id="6" name="Text 4"/>
          <p:cNvSpPr txBox="1"/>
          <p:nvPr/>
        </p:nvSpPr>
        <p:spPr>
          <a:xfrm>
            <a:off x="777240" y="4160520"/>
            <a:ext cx="4754880" cy="1097280"/>
          </a:xfrm>
          <a:prstGeom prst="rect">
            <a:avLst/>
          </a:prstGeom>
          <a:noFill/>
          <a:ln/>
        </p:spPr>
        <p:txBody>
          <a:bodyPr wrap="square" lIns="0" tIns="0" rIns="0" bIns="0" rtlCol="0" anchor="ctr"/>
          <a:lstStyle/>
          <a:p>
            <a:pPr indent="0" marL="0">
              <a:buNone/>
            </a:pPr>
            <a:r>
              <a:rPr lang="en-US" sz="1400" b="1" dirty="0">
                <a:solidFill>
                  <a:schemeClr val="accent2"/>
                </a:solidFill>
              </a:rPr>
              <a:t>Limitations  </a:t>
            </a:r>
            <a:pPr indent="0" marL="0">
              <a:buNone/>
            </a:pPr>
            <a:r>
              <a:rPr lang="en-US" sz="1400" dirty="0">
                <a:solidFill>
                  <a:schemeClr val="bg2"/>
                </a:solidFill>
              </a:rPr>
              <a:t>Small-scale desktop prototype. Production use needs stronger authentication, logging and backups.</a:t>
            </a:r>
            <a:endParaRPr lang="en-US" sz="1400" dirty="0"/>
          </a:p>
        </p:txBody>
      </p:sp>
      <p:sp>
        <p:nvSpPr>
          <p:cNvPr id="7" name="Text 5"/>
          <p:cNvSpPr txBox="1"/>
          <p:nvPr/>
        </p:nvSpPr>
        <p:spPr>
          <a:xfrm>
            <a:off x="548640" y="5440680"/>
            <a:ext cx="5394960" cy="548640"/>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Thank you. Questions welcome.</a:t>
            </a:r>
            <a:endParaRPr lang="en-US" sz="2200" dirty="0"/>
          </a:p>
        </p:txBody>
      </p:sp>
      <p:sp>
        <p:nvSpPr>
          <p:cNvPr id="8" name="Text 6"/>
          <p:cNvSpPr txBox="1"/>
          <p:nvPr/>
        </p:nvSpPr>
        <p:spPr>
          <a:xfrm>
            <a:off x="6309360" y="146304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FUTURE SCOPE</a:t>
            </a:r>
            <a:endParaRPr lang="en-US" sz="1200" dirty="0"/>
          </a:p>
        </p:txBody>
      </p:sp>
      <p:sp>
        <p:nvSpPr>
          <p:cNvPr id="9" name="Future 1"/>
          <p:cNvSpPr/>
          <p:nvPr/>
        </p:nvSpPr>
        <p:spPr>
          <a:xfrm>
            <a:off x="6309360" y="1828800"/>
            <a:ext cx="5330952" cy="612648"/>
          </a:xfrm>
          <a:prstGeom prst="roundRect">
            <a:avLst>
              <a:gd name="adj" fmla="val 11940"/>
            </a:avLst>
          </a:prstGeom>
          <a:solidFill>
            <a:schemeClr val="accent1"/>
          </a:solidFill>
          <a:ln w="12700">
            <a:solidFill>
              <a:schemeClr val="accent1"/>
            </a:solidFill>
            <a:prstDash val="solid"/>
          </a:ln>
        </p:spPr>
      </p:sp>
      <p:sp>
        <p:nvSpPr>
          <p:cNvPr id="10" name="Text 8"/>
          <p:cNvSpPr txBox="1"/>
          <p:nvPr/>
        </p:nvSpPr>
        <p:spPr>
          <a:xfrm>
            <a:off x="6583680" y="1828800"/>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Web version with Flask or Django</a:t>
            </a:r>
            <a:endParaRPr lang="en-US" sz="1600" dirty="0"/>
          </a:p>
        </p:txBody>
      </p:sp>
      <p:sp>
        <p:nvSpPr>
          <p:cNvPr id="11" name="Future 2"/>
          <p:cNvSpPr/>
          <p:nvPr/>
        </p:nvSpPr>
        <p:spPr>
          <a:xfrm>
            <a:off x="6309360" y="2532888"/>
            <a:ext cx="5330952" cy="612648"/>
          </a:xfrm>
          <a:prstGeom prst="roundRect">
            <a:avLst>
              <a:gd name="adj" fmla="val 11940"/>
            </a:avLst>
          </a:prstGeom>
          <a:solidFill>
            <a:schemeClr val="accent1"/>
          </a:solidFill>
          <a:ln w="12700">
            <a:solidFill>
              <a:schemeClr val="accent1"/>
            </a:solidFill>
            <a:prstDash val="solid"/>
          </a:ln>
        </p:spPr>
      </p:sp>
      <p:sp>
        <p:nvSpPr>
          <p:cNvPr id="12" name="Text 10"/>
          <p:cNvSpPr txBox="1"/>
          <p:nvPr/>
        </p:nvSpPr>
        <p:spPr>
          <a:xfrm>
            <a:off x="6583680" y="2532888"/>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MySQL / PostgreSQL for larger deployments</a:t>
            </a:r>
            <a:endParaRPr lang="en-US" sz="1600" dirty="0"/>
          </a:p>
        </p:txBody>
      </p:sp>
      <p:sp>
        <p:nvSpPr>
          <p:cNvPr id="13" name="Future 3"/>
          <p:cNvSpPr/>
          <p:nvPr/>
        </p:nvSpPr>
        <p:spPr>
          <a:xfrm>
            <a:off x="6309360" y="3236976"/>
            <a:ext cx="5330952" cy="612648"/>
          </a:xfrm>
          <a:prstGeom prst="roundRect">
            <a:avLst>
              <a:gd name="adj" fmla="val 11940"/>
            </a:avLst>
          </a:prstGeom>
          <a:solidFill>
            <a:schemeClr val="accent1"/>
          </a:solidFill>
          <a:ln w="12700">
            <a:solidFill>
              <a:schemeClr val="accent1"/>
            </a:solidFill>
            <a:prstDash val="solid"/>
          </a:ln>
        </p:spPr>
      </p:sp>
      <p:sp>
        <p:nvSpPr>
          <p:cNvPr id="14" name="Text 12"/>
          <p:cNvSpPr txBox="1"/>
          <p:nvPr/>
        </p:nvSpPr>
        <p:spPr>
          <a:xfrm>
            <a:off x="6583680" y="3236976"/>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Role-based access control</a:t>
            </a:r>
            <a:endParaRPr lang="en-US" sz="1600" dirty="0"/>
          </a:p>
        </p:txBody>
      </p:sp>
      <p:sp>
        <p:nvSpPr>
          <p:cNvPr id="15" name="Future 4"/>
          <p:cNvSpPr/>
          <p:nvPr/>
        </p:nvSpPr>
        <p:spPr>
          <a:xfrm>
            <a:off x="6309360" y="3941064"/>
            <a:ext cx="5330952" cy="612648"/>
          </a:xfrm>
          <a:prstGeom prst="roundRect">
            <a:avLst>
              <a:gd name="adj" fmla="val 11940"/>
            </a:avLst>
          </a:prstGeom>
          <a:solidFill>
            <a:schemeClr val="accent1"/>
          </a:solidFill>
          <a:ln w="12700">
            <a:solidFill>
              <a:schemeClr val="accent1"/>
            </a:solidFill>
            <a:prstDash val="solid"/>
          </a:ln>
        </p:spPr>
      </p:sp>
      <p:sp>
        <p:nvSpPr>
          <p:cNvPr id="16" name="Text 14"/>
          <p:cNvSpPr txBox="1"/>
          <p:nvPr/>
        </p:nvSpPr>
        <p:spPr>
          <a:xfrm>
            <a:off x="6583680" y="3941064"/>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Charts, trends and downloadable reports</a:t>
            </a:r>
            <a:endParaRPr lang="en-US" sz="1600" dirty="0"/>
          </a:p>
        </p:txBody>
      </p:sp>
      <p:sp>
        <p:nvSpPr>
          <p:cNvPr id="17" name="Future 5"/>
          <p:cNvSpPr/>
          <p:nvPr/>
        </p:nvSpPr>
        <p:spPr>
          <a:xfrm>
            <a:off x="6309360" y="4645152"/>
            <a:ext cx="5330952" cy="612648"/>
          </a:xfrm>
          <a:prstGeom prst="roundRect">
            <a:avLst>
              <a:gd name="adj" fmla="val 11940"/>
            </a:avLst>
          </a:prstGeom>
          <a:solidFill>
            <a:schemeClr val="accent1"/>
          </a:solidFill>
          <a:ln w="12700">
            <a:solidFill>
              <a:schemeClr val="accent1"/>
            </a:solidFill>
            <a:prstDash val="solid"/>
          </a:ln>
        </p:spPr>
      </p:sp>
      <p:sp>
        <p:nvSpPr>
          <p:cNvPr id="18" name="Text 16"/>
          <p:cNvSpPr txBox="1"/>
          <p:nvPr/>
        </p:nvSpPr>
        <p:spPr>
          <a:xfrm>
            <a:off x="6583680" y="4645152"/>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Email or in-app notifications</a:t>
            </a:r>
            <a:endParaRPr lang="en-US" sz="1600" dirty="0"/>
          </a:p>
        </p:txBody>
      </p:sp>
      <p:sp>
        <p:nvSpPr>
          <p:cNvPr id="19" name="Future 6"/>
          <p:cNvSpPr/>
          <p:nvPr/>
        </p:nvSpPr>
        <p:spPr>
          <a:xfrm>
            <a:off x="6309360" y="5349240"/>
            <a:ext cx="5330952" cy="612648"/>
          </a:xfrm>
          <a:prstGeom prst="roundRect">
            <a:avLst>
              <a:gd name="adj" fmla="val 11940"/>
            </a:avLst>
          </a:prstGeom>
          <a:solidFill>
            <a:schemeClr val="accent1"/>
          </a:solidFill>
          <a:ln w="12700">
            <a:solidFill>
              <a:schemeClr val="accent1"/>
            </a:solidFill>
            <a:prstDash val="solid"/>
          </a:ln>
        </p:spPr>
      </p:sp>
      <p:sp>
        <p:nvSpPr>
          <p:cNvPr id="20" name="Text 18"/>
          <p:cNvSpPr txBox="1"/>
          <p:nvPr/>
        </p:nvSpPr>
        <p:spPr>
          <a:xfrm>
            <a:off x="6583680" y="5349240"/>
            <a:ext cx="4846320" cy="612648"/>
          </a:xfrm>
          <a:prstGeom prst="rect">
            <a:avLst/>
          </a:prstGeom>
          <a:noFill/>
          <a:ln/>
        </p:spPr>
        <p:txBody>
          <a:bodyPr wrap="square" lIns="0" tIns="0" rIns="0" bIns="0" rtlCol="0" anchor="ctr"/>
          <a:lstStyle/>
          <a:p>
            <a:pPr indent="0" marL="0">
              <a:buNone/>
            </a:pPr>
            <a:r>
              <a:rPr lang="en-US" sz="1600" b="1" dirty="0">
                <a:solidFill>
                  <a:schemeClr val="bg1"/>
                </a:solidFill>
              </a:rPr>
              <a:t>Automated testing and continuous integration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eedback Teal">
  <a:themeElements>
    <a:clrScheme name="Feedback Teal">
      <a:dk1>
        <a:srgbClr val="17242E"/>
      </a:dk1>
      <a:lt1>
        <a:srgbClr val="FFFFFF"/>
      </a:lt1>
      <a:dk2>
        <a:srgbClr val="0B2E3F"/>
      </a:dk2>
      <a:lt2>
        <a:srgbClr val="EEF4F5"/>
      </a:lt2>
      <a:accent1>
        <a:srgbClr val="0E7C86"/>
      </a:accent1>
      <a:accent2>
        <a:srgbClr val="E9A93A"/>
      </a:accent2>
      <a:accent3>
        <a:srgbClr val="D9534F"/>
      </a:accent3>
      <a:accent4>
        <a:srgbClr val="5B6B78"/>
      </a:accent4>
      <a:accent5>
        <a:srgbClr val="8CC3C9"/>
      </a:accent5>
      <a:accent6>
        <a:srgbClr val="3FA66B"/>
      </a:accent6>
      <a:hlink>
        <a:srgbClr val="0E7C86"/>
      </a:hlink>
      <a:folHlink>
        <a:srgbClr val="5B6B78"/>
      </a:folHlink>
    </a:clrScheme>
    <a:fontScheme name="Feedback Te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Feedback System using Python - Internship Review</dc:title>
  <dc:subject>PptxGenJS Presentation</dc:subject>
  <dc:creator>Logeshkumar M</dc:creator>
  <cp:lastModifiedBy>Logeshkumar M</cp:lastModifiedBy>
  <cp:revision>1</cp:revision>
  <dcterms:created xsi:type="dcterms:W3CDTF">2026-10-22T02:34:07Z</dcterms:created>
  <dcterms:modified xsi:type="dcterms:W3CDTF">2026-10-22T02:34:07Z</dcterms:modified>
</cp:coreProperties>
</file>